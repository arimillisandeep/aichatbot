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URL: https://aicharbot.vercel.app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local app is the source of truth, Kore.ai is the deployment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"unknown email" and "service error" is worth calling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matter-of-fact about this: it is a platform constraint, documented with reproduced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12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5766D"/>
          </a:solidFill>
          <a:ln/>
        </p:spPr>
      </p:sp>
      <p:sp>
        <p:nvSpPr>
          <p:cNvPr id="3" name="Shape 1"/>
          <p:cNvSpPr/>
          <p:nvPr/>
        </p:nvSpPr>
        <p:spPr>
          <a:xfrm>
            <a:off x="8991295" y="3657600"/>
            <a:ext cx="3200400" cy="3200400"/>
          </a:xfrm>
          <a:prstGeom prst="rect">
            <a:avLst/>
          </a:prstGeom>
          <a:solidFill>
            <a:srgbClr val="15766D"/>
          </a:solidFill>
          <a:ln w="12700">
            <a:solidFill>
              <a:srgbClr val="15766D"/>
            </a:solidFill>
            <a:prstDash val="solid"/>
          </a:ln>
        </p:spPr>
      </p:sp>
      <p:sp>
        <p:nvSpPr>
          <p:cNvPr id="4" name="Text 2"/>
          <p:cNvSpPr/>
          <p:nvPr/>
        </p:nvSpPr>
        <p:spPr>
          <a:xfrm>
            <a:off x="822960" y="1371600"/>
            <a:ext cx="8229600" cy="274320"/>
          </a:xfrm>
          <a:prstGeom prst="rect">
            <a:avLst/>
          </a:prstGeom>
          <a:noFill/>
          <a:ln/>
        </p:spPr>
        <p:txBody>
          <a:bodyPr wrap="square" rtlCol="0" anchor="ctr"/>
          <a:lstStyle/>
          <a:p>
            <a:pPr indent="0" marL="0">
              <a:buNone/>
            </a:pPr>
            <a:r>
              <a:rPr lang="en-US" sz="1200" b="1" spc="220" kern="0" dirty="0">
                <a:solidFill>
                  <a:srgbClr val="7FC4BC"/>
                </a:solidFill>
                <a:latin typeface="Segoe UI" pitchFamily="34" charset="0"/>
                <a:ea typeface="Segoe UI" pitchFamily="34" charset="-122"/>
                <a:cs typeface="Segoe UI" pitchFamily="34" charset="-120"/>
              </a:rPr>
              <a:t>PRONIX INC.  ·  KORE.AI XO</a:t>
            </a:r>
            <a:endParaRPr lang="en-US" sz="1200" dirty="0"/>
          </a:p>
        </p:txBody>
      </p:sp>
      <p:sp>
        <p:nvSpPr>
          <p:cNvPr id="5" name="Text 3"/>
          <p:cNvSpPr/>
          <p:nvPr/>
        </p:nvSpPr>
        <p:spPr>
          <a:xfrm>
            <a:off x="822960" y="1783080"/>
            <a:ext cx="8412480" cy="1737360"/>
          </a:xfrm>
          <a:prstGeom prst="rect">
            <a:avLst/>
          </a:prstGeom>
          <a:noFill/>
          <a:ln/>
        </p:spPr>
        <p:txBody>
          <a:bodyPr wrap="square" rtlCol="0" anchor="ctr"/>
          <a:lstStyle/>
          <a:p>
            <a:pPr indent="0" marL="0">
              <a:lnSpc>
                <a:spcPts val="5000"/>
              </a:lnSpc>
              <a:buNone/>
            </a:pPr>
            <a:r>
              <a:rPr lang="en-US" sz="4000" b="1" dirty="0">
                <a:solidFill>
                  <a:srgbClr val="FFFFFF"/>
                </a:solidFill>
                <a:latin typeface="Segoe UI" pitchFamily="34" charset="0"/>
                <a:ea typeface="Segoe UI" pitchFamily="34" charset="-122"/>
                <a:cs typeface="Segoe UI" pitchFamily="34" charset="-120"/>
              </a:rPr>
              <a:t>Virtual Assistant</a:t>
            </a:r>
            <a:endParaRPr lang="en-US" sz="4000" dirty="0"/>
          </a:p>
          <a:p>
            <a:pPr indent="0" marL="0">
              <a:lnSpc>
                <a:spcPts val="5000"/>
              </a:lnSpc>
              <a:buNone/>
            </a:pPr>
            <a:r>
              <a:rPr lang="en-US" sz="4000" b="1" dirty="0">
                <a:solidFill>
                  <a:srgbClr val="FFFFFF"/>
                </a:solidFill>
                <a:latin typeface="Segoe UI" pitchFamily="34" charset="0"/>
                <a:ea typeface="Segoe UI" pitchFamily="34" charset="-122"/>
                <a:cs typeface="Segoe UI" pitchFamily="34" charset="-120"/>
              </a:rPr>
              <a:t>for the Pronix Platform</a:t>
            </a:r>
            <a:endParaRPr lang="en-US" sz="4000" dirty="0"/>
          </a:p>
        </p:txBody>
      </p:sp>
      <p:sp>
        <p:nvSpPr>
          <p:cNvPr id="6" name="Text 4"/>
          <p:cNvSpPr/>
          <p:nvPr/>
        </p:nvSpPr>
        <p:spPr>
          <a:xfrm>
            <a:off x="822960" y="3657600"/>
            <a:ext cx="7223760" cy="822960"/>
          </a:xfrm>
          <a:prstGeom prst="rect">
            <a:avLst/>
          </a:prstGeom>
          <a:noFill/>
          <a:ln/>
        </p:spPr>
        <p:txBody>
          <a:bodyPr wrap="square" rtlCol="0" anchor="ctr"/>
          <a:lstStyle/>
          <a:p>
            <a:pPr indent="0" marL="0">
              <a:lnSpc>
                <a:spcPts val="2100"/>
              </a:lnSpc>
              <a:buNone/>
            </a:pPr>
            <a:r>
              <a:rPr lang="en-US" sz="1400" dirty="0">
                <a:solidFill>
                  <a:srgbClr val="C6D6D3"/>
                </a:solidFill>
                <a:latin typeface="Segoe UI" pitchFamily="34" charset="0"/>
                <a:ea typeface="Segoe UI" pitchFamily="34" charset="-122"/>
                <a:cs typeface="Segoe UI" pitchFamily="34" charset="-120"/>
              </a:rPr>
              <a:t>Design, build, verification and deployment of a Kore.ai XO chatbot with hybrid search, eight trained intents, and account authentication.</a:t>
            </a:r>
            <a:endParaRPr lang="en-US" sz="1400" dirty="0"/>
          </a:p>
        </p:txBody>
      </p:sp>
      <p:sp>
        <p:nvSpPr>
          <p:cNvPr id="7" name="Shape 5"/>
          <p:cNvSpPr/>
          <p:nvPr/>
        </p:nvSpPr>
        <p:spPr>
          <a:xfrm>
            <a:off x="822960" y="4617720"/>
            <a:ext cx="1463040" cy="0"/>
          </a:xfrm>
          <a:prstGeom prst="line">
            <a:avLst/>
          </a:prstGeom>
          <a:noFill/>
          <a:ln w="31750">
            <a:solidFill>
              <a:srgbClr val="15766D"/>
            </a:solidFill>
            <a:prstDash val="solid"/>
          </a:ln>
        </p:spPr>
      </p:sp>
      <p:sp>
        <p:nvSpPr>
          <p:cNvPr id="8" name="Text 6"/>
          <p:cNvSpPr/>
          <p:nvPr/>
        </p:nvSpPr>
        <p:spPr>
          <a:xfrm>
            <a:off x="822960" y="4800600"/>
            <a:ext cx="4572000" cy="256032"/>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Sandeep Arimilli</a:t>
            </a:r>
            <a:endParaRPr lang="en-US" sz="1400" dirty="0"/>
          </a:p>
        </p:txBody>
      </p:sp>
      <p:sp>
        <p:nvSpPr>
          <p:cNvPr id="9" name="Text 7"/>
          <p:cNvSpPr/>
          <p:nvPr/>
        </p:nvSpPr>
        <p:spPr>
          <a:xfrm>
            <a:off x="822960" y="5102352"/>
            <a:ext cx="4572000" cy="256032"/>
          </a:xfrm>
          <a:prstGeom prst="rect">
            <a:avLst/>
          </a:prstGeom>
          <a:noFill/>
          <a:ln/>
        </p:spPr>
        <p:txBody>
          <a:bodyPr wrap="square" rtlCol="0" anchor="ctr"/>
          <a:lstStyle/>
          <a:p>
            <a:pPr indent="0" marL="0">
              <a:buNone/>
            </a:pPr>
            <a:r>
              <a:rPr lang="en-US" sz="1200" dirty="0">
                <a:solidFill>
                  <a:srgbClr val="9FB5B1"/>
                </a:solidFill>
                <a:latin typeface="Segoe UI" pitchFamily="34" charset="0"/>
                <a:ea typeface="Segoe UI" pitchFamily="34" charset="-122"/>
                <a:cs typeface="Segoe UI" pitchFamily="34" charset="-120"/>
              </a:rPr>
              <a:t>1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OVERVIEW</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What the assignment asked for</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1</a:t>
            </a:r>
            <a:endParaRPr lang="en-US" sz="850" dirty="0"/>
          </a:p>
        </p:txBody>
      </p:sp>
      <p:sp>
        <p:nvSpPr>
          <p:cNvPr id="8" name="Text 6"/>
          <p:cNvSpPr/>
          <p:nvPr/>
        </p:nvSpPr>
        <p:spPr>
          <a:xfrm>
            <a:off x="566928" y="1554480"/>
            <a:ext cx="11057839" cy="3931920"/>
          </a:xfrm>
          <a:prstGeom prst="rect">
            <a:avLst/>
          </a:prstGeom>
          <a:noFill/>
          <a:ln/>
        </p:spPr>
        <p:txBody>
          <a:bodyPr wrap="square" rtlCol="0" anchor="t"/>
          <a:lstStyle/>
          <a:p>
            <a:pPr marL="342900" indent="-342900">
              <a:spcAft>
                <a:spcPts val="1300"/>
              </a:spcAft>
              <a:buSzPct val="100000"/>
              <a:buChar char="•"/>
            </a:pPr>
            <a:r>
              <a:rPr lang="en-US" sz="1450" dirty="0">
                <a:solidFill>
                  <a:srgbClr val="3E4C59"/>
                </a:solidFill>
                <a:latin typeface="Segoe UI" pitchFamily="34" charset="0"/>
                <a:ea typeface="Segoe UI" pitchFamily="34" charset="-122"/>
                <a:cs typeface="Segoe UI" pitchFamily="34" charset="-120"/>
              </a:rPr>
              <a:t>Build a Kore.ai XO virtual assistant for the Pronix platform.</a:t>
            </a:r>
            <a:endParaRPr lang="en-US" sz="1450" dirty="0"/>
          </a:p>
          <a:p>
            <a:pPr marL="342900" indent="-342900">
              <a:spcAft>
                <a:spcPts val="1300"/>
              </a:spcAft>
              <a:buSzPct val="100000"/>
              <a:buChar char="•"/>
            </a:pPr>
            <a:r>
              <a:rPr lang="en-US" sz="1450" dirty="0">
                <a:solidFill>
                  <a:srgbClr val="3E4C59"/>
                </a:solidFill>
                <a:latin typeface="Segoe UI" pitchFamily="34" charset="0"/>
                <a:ea typeface="Segoe UI" pitchFamily="34" charset="-122"/>
                <a:cs typeface="Segoe UI" pitchFamily="34" charset="-120"/>
              </a:rPr>
              <a:t>Crawl the public Pronix site and ground answers in that content — no invented facts.</a:t>
            </a:r>
            <a:endParaRPr lang="en-US" sz="1450" dirty="0"/>
          </a:p>
          <a:p>
            <a:pPr lvl="1" marL="685800" indent="-342900">
              <a:spcAft>
                <a:spcPts val="500"/>
              </a:spcAft>
              <a:buSzPct val="100000"/>
              <a:buChar char="–"/>
            </a:pPr>
            <a:r>
              <a:rPr lang="en-US" sz="1300" dirty="0">
                <a:solidFill>
                  <a:srgbClr val="7B8794"/>
                </a:solidFill>
                <a:latin typeface="Segoe UI" pitchFamily="34" charset="0"/>
                <a:ea typeface="Segoe UI" pitchFamily="34" charset="-122"/>
                <a:cs typeface="Segoe UI" pitchFamily="34" charset="-120"/>
              </a:rPr>
              <a:t>Implement a Search AI collection with hybrid retrieval, metadata and category filters.</a:t>
            </a:r>
            <a:endParaRPr lang="en-US" sz="1450" dirty="0"/>
          </a:p>
          <a:p>
            <a:pPr marL="342900" indent="-342900">
              <a:spcAft>
                <a:spcPts val="1300"/>
              </a:spcAft>
              <a:buSzPct val="100000"/>
              <a:buChar char="•"/>
            </a:pPr>
            <a:r>
              <a:rPr lang="en-US" sz="1450" dirty="0">
                <a:solidFill>
                  <a:srgbClr val="3E4C59"/>
                </a:solidFill>
                <a:latin typeface="Segoe UI" pitchFamily="34" charset="0"/>
                <a:ea typeface="Segoe UI" pitchFamily="34" charset="-122"/>
                <a:cs typeface="Segoe UI" pitchFamily="34" charset="-120"/>
              </a:rPr>
              <a:t>Define and train the intent set covering greeting, authentication, account management and service discovery.</a:t>
            </a:r>
            <a:endParaRPr lang="en-US" sz="1450" dirty="0"/>
          </a:p>
          <a:p>
            <a:pPr lvl="1" marL="685800" indent="-342900">
              <a:spcAft>
                <a:spcPts val="500"/>
              </a:spcAft>
              <a:buSzPct val="100000"/>
              <a:buChar char="–"/>
            </a:pPr>
            <a:r>
              <a:rPr lang="en-US" sz="1300" dirty="0">
                <a:solidFill>
                  <a:srgbClr val="7B8794"/>
                </a:solidFill>
                <a:latin typeface="Segoe UI" pitchFamily="34" charset="0"/>
                <a:ea typeface="Segoe UI" pitchFamily="34" charset="-122"/>
                <a:cs typeface="Segoe UI" pitchFamily="34" charset="-120"/>
              </a:rPr>
              <a:t>Login, registration and account CRUD against a REST resource.</a:t>
            </a:r>
            <a:endParaRPr lang="en-US" sz="1450" dirty="0"/>
          </a:p>
          <a:p>
            <a:pPr marL="342900" indent="-342900">
              <a:spcAft>
                <a:spcPts val="1300"/>
              </a:spcAft>
              <a:buSzPct val="100000"/>
              <a:buChar char="•"/>
            </a:pPr>
            <a:r>
              <a:rPr lang="en-US" sz="1450" dirty="0">
                <a:solidFill>
                  <a:srgbClr val="3E4C59"/>
                </a:solidFill>
                <a:latin typeface="Segoe UI" pitchFamily="34" charset="0"/>
                <a:ea typeface="Segoe UI" pitchFamily="34" charset="-122"/>
                <a:cs typeface="Segoe UI" pitchFamily="34" charset="-120"/>
              </a:rPr>
              <a:t>Deliver the exact required response copy across every branch.</a:t>
            </a:r>
            <a:endParaRPr lang="en-US" sz="1450" dirty="0"/>
          </a:p>
          <a:p>
            <a:pPr marL="342900" indent="-342900">
              <a:spcAft>
                <a:spcPts val="1300"/>
              </a:spcAft>
              <a:buSzPct val="100000"/>
              <a:buChar char="•"/>
            </a:pPr>
            <a:r>
              <a:rPr lang="en-US" sz="1450" dirty="0">
                <a:solidFill>
                  <a:srgbClr val="3E4C59"/>
                </a:solidFill>
                <a:latin typeface="Segoe UI" pitchFamily="34" charset="0"/>
                <a:ea typeface="Segoe UI" pitchFamily="34" charset="-122"/>
                <a:cs typeface="Segoe UI" pitchFamily="34" charset="-120"/>
              </a:rPr>
              <a:t>Publish to the required channels: Web, Telegram and WhatsApp.</a:t>
            </a:r>
            <a:endParaRPr lang="en-US" sz="1450" dirty="0"/>
          </a:p>
          <a:p>
            <a:pPr marL="342900" indent="-342900">
              <a:spcAft>
                <a:spcPts val="1300"/>
              </a:spcAft>
              <a:buSzPct val="100000"/>
              <a:buChar char="•"/>
            </a:pPr>
            <a:r>
              <a:rPr lang="en-US" sz="1450" dirty="0">
                <a:solidFill>
                  <a:srgbClr val="3E4C59"/>
                </a:solidFill>
                <a:latin typeface="Segoe UI" pitchFamily="34" charset="0"/>
                <a:ea typeface="Segoe UI" pitchFamily="34" charset="-122"/>
                <a:cs typeface="Segoe UI" pitchFamily="34" charset="-120"/>
              </a:rPr>
              <a:t>Document the work and demonstrate a deployed, working result.</a:t>
            </a:r>
            <a:endParaRPr lang="en-US" sz="1450" dirty="0"/>
          </a:p>
        </p:txBody>
      </p:sp>
      <p:sp>
        <p:nvSpPr>
          <p:cNvPr id="9" name="Shape 7"/>
          <p:cNvSpPr/>
          <p:nvPr/>
        </p:nvSpPr>
        <p:spPr>
          <a:xfrm>
            <a:off x="566928" y="5577840"/>
            <a:ext cx="11057839" cy="713232"/>
          </a:xfrm>
          <a:prstGeom prst="roundRect">
            <a:avLst>
              <a:gd name="adj" fmla="val 7692"/>
            </a:avLst>
          </a:prstGeom>
          <a:solidFill>
            <a:srgbClr val="EFF6F5"/>
          </a:solidFill>
          <a:ln w="12700">
            <a:solidFill>
              <a:srgbClr val="D8E0DE"/>
            </a:solidFill>
            <a:prstDash val="solid"/>
          </a:ln>
        </p:spPr>
      </p:sp>
      <p:sp>
        <p:nvSpPr>
          <p:cNvPr id="10" name="Shape 8"/>
          <p:cNvSpPr/>
          <p:nvPr/>
        </p:nvSpPr>
        <p:spPr>
          <a:xfrm>
            <a:off x="566928" y="5577840"/>
            <a:ext cx="50292" cy="713232"/>
          </a:xfrm>
          <a:prstGeom prst="rect">
            <a:avLst/>
          </a:prstGeom>
          <a:solidFill>
            <a:srgbClr val="15766D"/>
          </a:solidFill>
          <a:ln/>
        </p:spPr>
      </p:sp>
      <p:sp>
        <p:nvSpPr>
          <p:cNvPr id="11" name="Text 9"/>
          <p:cNvSpPr/>
          <p:nvPr/>
        </p:nvSpPr>
        <p:spPr>
          <a:xfrm>
            <a:off x="768096" y="5724144"/>
            <a:ext cx="10692079"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How I approached it</a:t>
            </a:r>
            <a:endParaRPr lang="en-US" sz="1200" dirty="0"/>
          </a:p>
        </p:txBody>
      </p:sp>
      <p:sp>
        <p:nvSpPr>
          <p:cNvPr id="12" name="Text 10"/>
          <p:cNvSpPr/>
          <p:nvPr/>
        </p:nvSpPr>
        <p:spPr>
          <a:xfrm>
            <a:off x="768096" y="6035040"/>
            <a:ext cx="10692079" cy="128016"/>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Build the complete behaviour locally first so it is demonstrable and testable, then map it 1:1 onto Kore.ai XO as the deployment target. That ordering meant the platform’s write-API limits never left me without a working deliverable.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STATUS</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Requirement fulfilment at a glance</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2</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4206240"/>
                <a:gridCol w="4206240"/>
                <a:gridCol w="2651760"/>
              </a:tblGrid>
              <a:tr h="365760">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Requirement</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solidFill>
                      <a:srgbClr val="15766D"/>
                    </a:solidFill>
                  </a:tcPr>
                </a:tc>
                <a:tc>
                  <a:txBody>
                    <a:bodyPr/>
                    <a:lstStyle/>
                    <a:p>
                      <a:pPr indent="0" marL="0">
                        <a:buNone/>
                      </a:pPr>
                      <a:r>
                        <a:rPr lang="en-US" sz="1150" b="1" dirty="0">
                          <a:solidFill>
                            <a:srgbClr val="FFFFFF"/>
                          </a:solidFill>
                          <a:latin typeface="Segoe UI" pitchFamily="34" charset="0"/>
                          <a:ea typeface="Segoe UI" pitchFamily="34" charset="-122"/>
                          <a:cs typeface="Segoe UI" pitchFamily="34" charset="-120"/>
                        </a:rPr>
                        <a:t>Where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solidFill>
                      <a:srgbClr val="15766D"/>
                    </a:solidFill>
                  </a:tcPr>
                </a:tc>
                <a:tc>
                  <a:txBody>
                    <a:bodyPr/>
                    <a:lstStyle/>
                    <a:p>
                      <a:pPr algn="ctr" indent="0" marL="0">
                        <a:buNone/>
                      </a:pPr>
                      <a:r>
                        <a:rPr lang="en-US" sz="1150" b="1" dirty="0">
                          <a:solidFill>
                            <a:srgbClr val="FFFFFF"/>
                          </a:solidFill>
                          <a:latin typeface="Segoe UI" pitchFamily="34" charset="0"/>
                          <a:ea typeface="Segoe UI" pitchFamily="34" charset="-122"/>
                          <a:cs typeface="Segoe UI" pitchFamily="34" charset="-120"/>
                        </a:rPr>
                        <a:t>State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solidFill>
                      <a:srgbClr val="15766D"/>
                    </a:solidFill>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Crawler + knowledge corpus</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src/data/knowledge.json</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1E7A46"/>
                          </a:solidFill>
                          <a:latin typeface="Segoe UI" pitchFamily="34" charset="0"/>
                          <a:ea typeface="Segoe UI" pitchFamily="34" charset="-122"/>
                          <a:cs typeface="Segoe UI" pitchFamily="34" charset="-120"/>
                        </a:rPr>
                        <a:t>Complete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Hybrid retrieval + ranking</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src/lib/search.js</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1E7A46"/>
                          </a:solidFill>
                          <a:latin typeface="Segoe UI" pitchFamily="34" charset="0"/>
                          <a:ea typeface="Segoe UI" pitchFamily="34" charset="-122"/>
                          <a:cs typeface="Segoe UI" pitchFamily="34" charset="-120"/>
                        </a:rPr>
                        <a:t>Complete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8 intents + routing</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src/lib/dialog.js</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1E7A46"/>
                          </a:solidFill>
                          <a:latin typeface="Segoe UI" pitchFamily="34" charset="0"/>
                          <a:ea typeface="Segoe UI" pitchFamily="34" charset="-122"/>
                          <a:cs typeface="Segoe UI" pitchFamily="34" charset="-120"/>
                        </a:rPr>
                        <a:t>Complete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Login / registration / CRUD</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src/lib/accountStore.js</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1E7A46"/>
                          </a:solidFill>
                          <a:latin typeface="Segoe UI" pitchFamily="34" charset="0"/>
                          <a:ea typeface="Segoe UI" pitchFamily="34" charset="-122"/>
                          <a:cs typeface="Segoe UI" pitchFamily="34" charset="-120"/>
                        </a:rPr>
                        <a:t>Complete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Automated test suite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101 tests / 5 files</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1E7A46"/>
                          </a:solidFill>
                          <a:latin typeface="Segoe UI" pitchFamily="34" charset="0"/>
                          <a:ea typeface="Segoe UI" pitchFamily="34" charset="-122"/>
                          <a:cs typeface="Segoe UI" pitchFamily="34" charset="-120"/>
                        </a:rPr>
                        <a:t>Passing</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Public deployment</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aicharbot.vercel.app</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1E7A46"/>
                          </a:solidFill>
                          <a:latin typeface="Segoe UI" pitchFamily="34" charset="0"/>
                          <a:ea typeface="Segoe UI" pitchFamily="34" charset="-122"/>
                          <a:cs typeface="Segoe UI" pitchFamily="34" charset="-120"/>
                        </a:rPr>
                        <a:t>Live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Telegram channel</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t.me/PronixAIChatbotSandeepBot</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1E7A46"/>
                          </a:solidFill>
                          <a:latin typeface="Segoe UI" pitchFamily="34" charset="0"/>
                          <a:ea typeface="Segoe UI" pitchFamily="34" charset="-122"/>
                          <a:cs typeface="Segoe UI" pitchFamily="34" charset="-120"/>
                        </a:rPr>
                        <a:t>Enabled</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Required copy in Kore XO</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2 of 7 strings verified</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B7791F"/>
                          </a:solidFill>
                          <a:latin typeface="Segoe UI" pitchFamily="34" charset="0"/>
                          <a:ea typeface="Segoe UI" pitchFamily="34" charset="-122"/>
                          <a:cs typeface="Segoe UI" pitchFamily="34" charset="-120"/>
                        </a:rPr>
                        <a:t>Partial</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Search AI + intent training in Kore</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Builder configuration</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B7791F"/>
                          </a:solidFill>
                          <a:latin typeface="Segoe UI" pitchFamily="34" charset="0"/>
                          <a:ea typeface="Segoe UI" pitchFamily="34" charset="-122"/>
                          <a:cs typeface="Segoe UI" pitchFamily="34" charset="-120"/>
                        </a:rPr>
                        <a:t>Pending</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65760">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WhatsApp channel</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50" dirty="0">
                          <a:solidFill>
                            <a:srgbClr val="3E4C59"/>
                          </a:solidFill>
                          <a:latin typeface="Segoe UI" pitchFamily="34" charset="0"/>
                          <a:ea typeface="Segoe UI" pitchFamily="34" charset="-122"/>
                          <a:cs typeface="Segoe UI" pitchFamily="34" charset="-120"/>
                        </a:rPr>
                        <a:t>Meta Business verification</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ctr" indent="0" marL="0">
                        <a:buNone/>
                      </a:pPr>
                      <a:r>
                        <a:rPr lang="en-US" sz="1150" b="1" dirty="0">
                          <a:solidFill>
                            <a:srgbClr val="C0392B"/>
                          </a:solidFill>
                          <a:latin typeface="Segoe UI" pitchFamily="34" charset="0"/>
                          <a:ea typeface="Segoe UI" pitchFamily="34" charset="-122"/>
                          <a:cs typeface="Segoe UI" pitchFamily="34" charset="-120"/>
                        </a:rPr>
                        <a:t>Blocked</a:t>
                      </a:r>
                      <a:endParaRPr lang="en-US" sz="115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bl>
          </a:graphicData>
        </a:graphic>
      </p:graphicFrame>
      <p:sp>
        <p:nvSpPr>
          <p:cNvPr id="9" name="Text 6"/>
          <p:cNvSpPr/>
          <p:nvPr/>
        </p:nvSpPr>
        <p:spPr>
          <a:xfrm>
            <a:off x="566928" y="5943600"/>
            <a:ext cx="11057839" cy="457200"/>
          </a:xfrm>
          <a:prstGeom prst="rect">
            <a:avLst/>
          </a:prstGeom>
          <a:noFill/>
          <a:ln/>
        </p:spPr>
        <p:txBody>
          <a:bodyPr wrap="square" rtlCol="0" anchor="ctr"/>
          <a:lstStyle/>
          <a:p>
            <a:pPr indent="0" marL="0">
              <a:buNone/>
            </a:pPr>
            <a:r>
              <a:rPr lang="en-US" sz="1100" i="1" dirty="0">
                <a:solidFill>
                  <a:srgbClr val="7B8794"/>
                </a:solidFill>
                <a:latin typeface="Segoe UI" pitchFamily="34" charset="0"/>
                <a:ea typeface="Segoe UI" pitchFamily="34" charset="-122"/>
                <a:cs typeface="Segoe UI" pitchFamily="34" charset="-120"/>
              </a:rPr>
              <a:t>The Kore XO rows are platform-integration gaps, not missing functionality — the logic itself is built and tested. See “Honest status”.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ARCHITECTURE</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How the assistant works</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3</a:t>
            </a:r>
            <a:endParaRPr lang="en-US" sz="850" dirty="0"/>
          </a:p>
        </p:txBody>
      </p:sp>
      <p:sp>
        <p:nvSpPr>
          <p:cNvPr id="8" name="Shape 6"/>
          <p:cNvSpPr/>
          <p:nvPr/>
        </p:nvSpPr>
        <p:spPr>
          <a:xfrm>
            <a:off x="566928" y="1828800"/>
            <a:ext cx="1652473" cy="1371600"/>
          </a:xfrm>
          <a:prstGeom prst="roundRect">
            <a:avLst>
              <a:gd name="adj" fmla="val 4000"/>
            </a:avLst>
          </a:prstGeom>
          <a:solidFill>
            <a:srgbClr val="EFF6F5"/>
          </a:solidFill>
          <a:ln w="12700">
            <a:solidFill>
              <a:srgbClr val="D8E0DE"/>
            </a:solidFill>
            <a:prstDash val="solid"/>
          </a:ln>
        </p:spPr>
      </p:sp>
      <p:sp>
        <p:nvSpPr>
          <p:cNvPr id="9" name="Shape 7"/>
          <p:cNvSpPr/>
          <p:nvPr/>
        </p:nvSpPr>
        <p:spPr>
          <a:xfrm>
            <a:off x="566928" y="1828800"/>
            <a:ext cx="50292" cy="1371600"/>
          </a:xfrm>
          <a:prstGeom prst="rect">
            <a:avLst/>
          </a:prstGeom>
          <a:solidFill>
            <a:srgbClr val="15766D"/>
          </a:solidFill>
          <a:ln/>
        </p:spPr>
      </p:sp>
      <p:sp>
        <p:nvSpPr>
          <p:cNvPr id="10" name="Text 8"/>
          <p:cNvSpPr/>
          <p:nvPr/>
        </p:nvSpPr>
        <p:spPr>
          <a:xfrm>
            <a:off x="768096" y="1975104"/>
            <a:ext cx="1286713" cy="274320"/>
          </a:xfrm>
          <a:prstGeom prst="rect">
            <a:avLst/>
          </a:prstGeom>
          <a:noFill/>
          <a:ln/>
        </p:spPr>
        <p:txBody>
          <a:bodyPr wrap="square" rtlCol="0" anchor="ctr"/>
          <a:lstStyle/>
          <a:p>
            <a:pPr indent="0" marL="0">
              <a:buNone/>
            </a:pPr>
            <a:r>
              <a:rPr lang="en-US" sz="1050" b="1" dirty="0">
                <a:solidFill>
                  <a:srgbClr val="12312C"/>
                </a:solidFill>
                <a:latin typeface="Segoe UI" pitchFamily="34" charset="0"/>
                <a:ea typeface="Segoe UI" pitchFamily="34" charset="-122"/>
                <a:cs typeface="Segoe UI" pitchFamily="34" charset="-120"/>
              </a:rPr>
              <a:t>Crawler</a:t>
            </a:r>
            <a:endParaRPr lang="en-US" sz="1050" dirty="0"/>
          </a:p>
        </p:txBody>
      </p:sp>
      <p:sp>
        <p:nvSpPr>
          <p:cNvPr id="11" name="Text 9"/>
          <p:cNvSpPr/>
          <p:nvPr/>
        </p:nvSpPr>
        <p:spPr>
          <a:xfrm>
            <a:off x="768096" y="2286000"/>
            <a:ext cx="1286713" cy="786384"/>
          </a:xfrm>
          <a:prstGeom prst="rect">
            <a:avLst/>
          </a:prstGeom>
          <a:noFill/>
          <a:ln/>
        </p:spPr>
        <p:txBody>
          <a:bodyPr wrap="square" rtlCol="0" anchor="t"/>
          <a:lstStyle/>
          <a:p>
            <a:pPr indent="0" marL="0">
              <a:buNone/>
            </a:pPr>
            <a:r>
              <a:rPr lang="en-US" sz="1000" dirty="0">
                <a:solidFill>
                  <a:srgbClr val="3E4C59"/>
                </a:solidFill>
                <a:latin typeface="Segoe UI" pitchFamily="34" charset="0"/>
                <a:ea typeface="Segoe UI" pitchFamily="34" charset="-122"/>
                <a:cs typeface="Segoe UI" pitchFamily="34" charset="-120"/>
              </a:rPr>
              <a:t>scripts/crawl.mjs</a:t>
            </a:r>
            <a:endParaRPr lang="en-US" sz="1000" dirty="0"/>
          </a:p>
          <a:p>
            <a:pPr indent="0" marL="0">
              <a:buNone/>
            </a:pPr>
            <a:r>
              <a:rPr lang="en-US" sz="1000" dirty="0">
                <a:solidFill>
                  <a:srgbClr val="3E4C59"/>
                </a:solidFill>
                <a:latin typeface="Segoe UI" pitchFamily="34" charset="0"/>
                <a:ea typeface="Segoe UI" pitchFamily="34" charset="-122"/>
                <a:cs typeface="Segoe UI" pitchFamily="34" charset="-120"/>
              </a:rPr>
              <a:t>260 documents</a:t>
            </a:r>
            <a:endParaRPr lang="en-US" sz="1000" dirty="0"/>
          </a:p>
        </p:txBody>
      </p:sp>
      <p:sp>
        <p:nvSpPr>
          <p:cNvPr id="12" name="Shape 10"/>
          <p:cNvSpPr/>
          <p:nvPr/>
        </p:nvSpPr>
        <p:spPr>
          <a:xfrm>
            <a:off x="2260549" y="2395728"/>
            <a:ext cx="146304" cy="237744"/>
          </a:xfrm>
          <a:prstGeom prst="rightArrow">
            <a:avLst/>
          </a:prstGeom>
          <a:solidFill>
            <a:srgbClr val="D8E0DE"/>
          </a:solidFill>
          <a:ln/>
        </p:spPr>
      </p:sp>
      <p:sp>
        <p:nvSpPr>
          <p:cNvPr id="13" name="Shape 11"/>
          <p:cNvSpPr/>
          <p:nvPr/>
        </p:nvSpPr>
        <p:spPr>
          <a:xfrm>
            <a:off x="2448001" y="1828800"/>
            <a:ext cx="1652473" cy="1371600"/>
          </a:xfrm>
          <a:prstGeom prst="roundRect">
            <a:avLst>
              <a:gd name="adj" fmla="val 4000"/>
            </a:avLst>
          </a:prstGeom>
          <a:solidFill>
            <a:srgbClr val="EFF6F5"/>
          </a:solidFill>
          <a:ln w="12700">
            <a:solidFill>
              <a:srgbClr val="D8E0DE"/>
            </a:solidFill>
            <a:prstDash val="solid"/>
          </a:ln>
        </p:spPr>
      </p:sp>
      <p:sp>
        <p:nvSpPr>
          <p:cNvPr id="14" name="Shape 12"/>
          <p:cNvSpPr/>
          <p:nvPr/>
        </p:nvSpPr>
        <p:spPr>
          <a:xfrm>
            <a:off x="2448001" y="1828800"/>
            <a:ext cx="50292" cy="1371600"/>
          </a:xfrm>
          <a:prstGeom prst="rect">
            <a:avLst/>
          </a:prstGeom>
          <a:solidFill>
            <a:srgbClr val="15766D"/>
          </a:solidFill>
          <a:ln/>
        </p:spPr>
      </p:sp>
      <p:sp>
        <p:nvSpPr>
          <p:cNvPr id="15" name="Text 13"/>
          <p:cNvSpPr/>
          <p:nvPr/>
        </p:nvSpPr>
        <p:spPr>
          <a:xfrm>
            <a:off x="2649169" y="1975104"/>
            <a:ext cx="1286713" cy="274320"/>
          </a:xfrm>
          <a:prstGeom prst="rect">
            <a:avLst/>
          </a:prstGeom>
          <a:noFill/>
          <a:ln/>
        </p:spPr>
        <p:txBody>
          <a:bodyPr wrap="square" rtlCol="0" anchor="ctr"/>
          <a:lstStyle/>
          <a:p>
            <a:pPr indent="0" marL="0">
              <a:buNone/>
            </a:pPr>
            <a:r>
              <a:rPr lang="en-US" sz="1050" b="1" dirty="0">
                <a:solidFill>
                  <a:srgbClr val="12312C"/>
                </a:solidFill>
                <a:latin typeface="Segoe UI" pitchFamily="34" charset="0"/>
                <a:ea typeface="Segoe UI" pitchFamily="34" charset="-122"/>
                <a:cs typeface="Segoe UI" pitchFamily="34" charset="-120"/>
              </a:rPr>
              <a:t>Knowledge base</a:t>
            </a:r>
            <a:endParaRPr lang="en-US" sz="1050" dirty="0"/>
          </a:p>
        </p:txBody>
      </p:sp>
      <p:sp>
        <p:nvSpPr>
          <p:cNvPr id="16" name="Text 14"/>
          <p:cNvSpPr/>
          <p:nvPr/>
        </p:nvSpPr>
        <p:spPr>
          <a:xfrm>
            <a:off x="2649169" y="2286000"/>
            <a:ext cx="1286713" cy="786384"/>
          </a:xfrm>
          <a:prstGeom prst="rect">
            <a:avLst/>
          </a:prstGeom>
          <a:noFill/>
          <a:ln/>
        </p:spPr>
        <p:txBody>
          <a:bodyPr wrap="square" rtlCol="0" anchor="t"/>
          <a:lstStyle/>
          <a:p>
            <a:pPr indent="0" marL="0">
              <a:buNone/>
            </a:pPr>
            <a:r>
              <a:rPr lang="en-US" sz="1000" dirty="0">
                <a:solidFill>
                  <a:srgbClr val="3E4C59"/>
                </a:solidFill>
                <a:latin typeface="Segoe UI" pitchFamily="34" charset="0"/>
                <a:ea typeface="Segoe UI" pitchFamily="34" charset="-122"/>
                <a:cs typeface="Segoe UI" pitchFamily="34" charset="-120"/>
              </a:rPr>
              <a:t>src/data/knowledge.json</a:t>
            </a:r>
            <a:endParaRPr lang="en-US" sz="1000" dirty="0"/>
          </a:p>
          <a:p>
            <a:pPr indent="0" marL="0">
              <a:buNone/>
            </a:pPr>
            <a:r>
              <a:rPr lang="en-US" sz="1000" dirty="0">
                <a:solidFill>
                  <a:srgbClr val="3E4C59"/>
                </a:solidFill>
                <a:latin typeface="Segoe UI" pitchFamily="34" charset="0"/>
                <a:ea typeface="Segoe UI" pitchFamily="34" charset="-122"/>
                <a:cs typeface="Segoe UI" pitchFamily="34" charset="-120"/>
              </a:rPr>
              <a:t>42 FAQs, 8 categories</a:t>
            </a:r>
            <a:endParaRPr lang="en-US" sz="1000" dirty="0"/>
          </a:p>
        </p:txBody>
      </p:sp>
      <p:sp>
        <p:nvSpPr>
          <p:cNvPr id="17" name="Shape 15"/>
          <p:cNvSpPr/>
          <p:nvPr/>
        </p:nvSpPr>
        <p:spPr>
          <a:xfrm>
            <a:off x="4141622" y="2395728"/>
            <a:ext cx="146304" cy="237744"/>
          </a:xfrm>
          <a:prstGeom prst="rightArrow">
            <a:avLst/>
          </a:prstGeom>
          <a:solidFill>
            <a:srgbClr val="D8E0DE"/>
          </a:solidFill>
          <a:ln/>
        </p:spPr>
      </p:sp>
      <p:sp>
        <p:nvSpPr>
          <p:cNvPr id="18" name="Shape 16"/>
          <p:cNvSpPr/>
          <p:nvPr/>
        </p:nvSpPr>
        <p:spPr>
          <a:xfrm>
            <a:off x="4329074" y="1828800"/>
            <a:ext cx="1652473" cy="1371600"/>
          </a:xfrm>
          <a:prstGeom prst="roundRect">
            <a:avLst>
              <a:gd name="adj" fmla="val 4000"/>
            </a:avLst>
          </a:prstGeom>
          <a:solidFill>
            <a:srgbClr val="EFF6F5"/>
          </a:solidFill>
          <a:ln w="12700">
            <a:solidFill>
              <a:srgbClr val="D8E0DE"/>
            </a:solidFill>
            <a:prstDash val="solid"/>
          </a:ln>
        </p:spPr>
      </p:sp>
      <p:sp>
        <p:nvSpPr>
          <p:cNvPr id="19" name="Shape 17"/>
          <p:cNvSpPr/>
          <p:nvPr/>
        </p:nvSpPr>
        <p:spPr>
          <a:xfrm>
            <a:off x="4329074" y="1828800"/>
            <a:ext cx="50292" cy="1371600"/>
          </a:xfrm>
          <a:prstGeom prst="rect">
            <a:avLst/>
          </a:prstGeom>
          <a:solidFill>
            <a:srgbClr val="15766D"/>
          </a:solidFill>
          <a:ln/>
        </p:spPr>
      </p:sp>
      <p:sp>
        <p:nvSpPr>
          <p:cNvPr id="20" name="Text 18"/>
          <p:cNvSpPr/>
          <p:nvPr/>
        </p:nvSpPr>
        <p:spPr>
          <a:xfrm>
            <a:off x="4530242" y="1975104"/>
            <a:ext cx="1286713" cy="274320"/>
          </a:xfrm>
          <a:prstGeom prst="rect">
            <a:avLst/>
          </a:prstGeom>
          <a:noFill/>
          <a:ln/>
        </p:spPr>
        <p:txBody>
          <a:bodyPr wrap="square" rtlCol="0" anchor="ctr"/>
          <a:lstStyle/>
          <a:p>
            <a:pPr indent="0" marL="0">
              <a:buNone/>
            </a:pPr>
            <a:r>
              <a:rPr lang="en-US" sz="1050" b="1" dirty="0">
                <a:solidFill>
                  <a:srgbClr val="12312C"/>
                </a:solidFill>
                <a:latin typeface="Segoe UI" pitchFamily="34" charset="0"/>
                <a:ea typeface="Segoe UI" pitchFamily="34" charset="-122"/>
                <a:cs typeface="Segoe UI" pitchFamily="34" charset="-120"/>
              </a:rPr>
              <a:t>Hybrid ranker</a:t>
            </a:r>
            <a:endParaRPr lang="en-US" sz="1050" dirty="0"/>
          </a:p>
        </p:txBody>
      </p:sp>
      <p:sp>
        <p:nvSpPr>
          <p:cNvPr id="21" name="Text 19"/>
          <p:cNvSpPr/>
          <p:nvPr/>
        </p:nvSpPr>
        <p:spPr>
          <a:xfrm>
            <a:off x="4530242" y="2286000"/>
            <a:ext cx="1286713" cy="786384"/>
          </a:xfrm>
          <a:prstGeom prst="rect">
            <a:avLst/>
          </a:prstGeom>
          <a:noFill/>
          <a:ln/>
        </p:spPr>
        <p:txBody>
          <a:bodyPr wrap="square" rtlCol="0" anchor="t"/>
          <a:lstStyle/>
          <a:p>
            <a:pPr indent="0" marL="0">
              <a:buNone/>
            </a:pPr>
            <a:r>
              <a:rPr lang="en-US" sz="1000" dirty="0">
                <a:solidFill>
                  <a:srgbClr val="3E4C59"/>
                </a:solidFill>
                <a:latin typeface="Segoe UI" pitchFamily="34" charset="0"/>
                <a:ea typeface="Segoe UI" pitchFamily="34" charset="-122"/>
                <a:cs typeface="Segoe UI" pitchFamily="34" charset="-120"/>
              </a:rPr>
              <a:t>token overlap · stemming</a:t>
            </a:r>
            <a:endParaRPr lang="en-US" sz="1000" dirty="0"/>
          </a:p>
          <a:p>
            <a:pPr indent="0" marL="0">
              <a:buNone/>
            </a:pPr>
            <a:r>
              <a:rPr lang="en-US" sz="1000" dirty="0">
                <a:solidFill>
                  <a:srgbClr val="3E4C59"/>
                </a:solidFill>
                <a:latin typeface="Segoe UI" pitchFamily="34" charset="0"/>
                <a:ea typeface="Segoe UI" pitchFamily="34" charset="-122"/>
                <a:cs typeface="Segoe UI" pitchFamily="34" charset="-120"/>
              </a:rPr>
              <a:t>concept sets · field weights</a:t>
            </a:r>
            <a:endParaRPr lang="en-US" sz="1000" dirty="0"/>
          </a:p>
        </p:txBody>
      </p:sp>
      <p:sp>
        <p:nvSpPr>
          <p:cNvPr id="22" name="Shape 20"/>
          <p:cNvSpPr/>
          <p:nvPr/>
        </p:nvSpPr>
        <p:spPr>
          <a:xfrm>
            <a:off x="6022696" y="2395728"/>
            <a:ext cx="146304" cy="237744"/>
          </a:xfrm>
          <a:prstGeom prst="rightArrow">
            <a:avLst/>
          </a:prstGeom>
          <a:solidFill>
            <a:srgbClr val="D8E0DE"/>
          </a:solidFill>
          <a:ln/>
        </p:spPr>
      </p:sp>
      <p:sp>
        <p:nvSpPr>
          <p:cNvPr id="23" name="Shape 21"/>
          <p:cNvSpPr/>
          <p:nvPr/>
        </p:nvSpPr>
        <p:spPr>
          <a:xfrm>
            <a:off x="6210148" y="1828800"/>
            <a:ext cx="1652473" cy="1371600"/>
          </a:xfrm>
          <a:prstGeom prst="roundRect">
            <a:avLst>
              <a:gd name="adj" fmla="val 4000"/>
            </a:avLst>
          </a:prstGeom>
          <a:solidFill>
            <a:srgbClr val="EFF6F5"/>
          </a:solidFill>
          <a:ln w="12700">
            <a:solidFill>
              <a:srgbClr val="D8E0DE"/>
            </a:solidFill>
            <a:prstDash val="solid"/>
          </a:ln>
        </p:spPr>
      </p:sp>
      <p:sp>
        <p:nvSpPr>
          <p:cNvPr id="24" name="Shape 22"/>
          <p:cNvSpPr/>
          <p:nvPr/>
        </p:nvSpPr>
        <p:spPr>
          <a:xfrm>
            <a:off x="6210148" y="1828800"/>
            <a:ext cx="50292" cy="1371600"/>
          </a:xfrm>
          <a:prstGeom prst="rect">
            <a:avLst/>
          </a:prstGeom>
          <a:solidFill>
            <a:srgbClr val="15766D"/>
          </a:solidFill>
          <a:ln/>
        </p:spPr>
      </p:sp>
      <p:sp>
        <p:nvSpPr>
          <p:cNvPr id="25" name="Text 23"/>
          <p:cNvSpPr/>
          <p:nvPr/>
        </p:nvSpPr>
        <p:spPr>
          <a:xfrm>
            <a:off x="6411316" y="1975104"/>
            <a:ext cx="1286713" cy="274320"/>
          </a:xfrm>
          <a:prstGeom prst="rect">
            <a:avLst/>
          </a:prstGeom>
          <a:noFill/>
          <a:ln/>
        </p:spPr>
        <p:txBody>
          <a:bodyPr wrap="square" rtlCol="0" anchor="ctr"/>
          <a:lstStyle/>
          <a:p>
            <a:pPr indent="0" marL="0">
              <a:buNone/>
            </a:pPr>
            <a:r>
              <a:rPr lang="en-US" sz="1050" b="1" dirty="0">
                <a:solidFill>
                  <a:srgbClr val="12312C"/>
                </a:solidFill>
                <a:latin typeface="Segoe UI" pitchFamily="34" charset="0"/>
                <a:ea typeface="Segoe UI" pitchFamily="34" charset="-122"/>
                <a:cs typeface="Segoe UI" pitchFamily="34" charset="-120"/>
              </a:rPr>
              <a:t>Intent classifier</a:t>
            </a:r>
            <a:endParaRPr lang="en-US" sz="1050" dirty="0"/>
          </a:p>
        </p:txBody>
      </p:sp>
      <p:sp>
        <p:nvSpPr>
          <p:cNvPr id="26" name="Text 24"/>
          <p:cNvSpPr/>
          <p:nvPr/>
        </p:nvSpPr>
        <p:spPr>
          <a:xfrm>
            <a:off x="6411316" y="2286000"/>
            <a:ext cx="1286713" cy="786384"/>
          </a:xfrm>
          <a:prstGeom prst="rect">
            <a:avLst/>
          </a:prstGeom>
          <a:noFill/>
          <a:ln/>
        </p:spPr>
        <p:txBody>
          <a:bodyPr wrap="square" rtlCol="0" anchor="t"/>
          <a:lstStyle/>
          <a:p>
            <a:pPr indent="0" marL="0">
              <a:buNone/>
            </a:pPr>
            <a:r>
              <a:rPr lang="en-US" sz="1000" dirty="0">
                <a:solidFill>
                  <a:srgbClr val="3E4C59"/>
                </a:solidFill>
                <a:latin typeface="Segoe UI" pitchFamily="34" charset="0"/>
                <a:ea typeface="Segoe UI" pitchFamily="34" charset="-122"/>
                <a:cs typeface="Segoe UI" pitchFamily="34" charset="-120"/>
              </a:rPr>
              <a:t>8 intents + confidence</a:t>
            </a:r>
            <a:endParaRPr lang="en-US" sz="1000" dirty="0"/>
          </a:p>
        </p:txBody>
      </p:sp>
      <p:sp>
        <p:nvSpPr>
          <p:cNvPr id="27" name="Shape 25"/>
          <p:cNvSpPr/>
          <p:nvPr/>
        </p:nvSpPr>
        <p:spPr>
          <a:xfrm>
            <a:off x="7903769" y="2395728"/>
            <a:ext cx="146304" cy="237744"/>
          </a:xfrm>
          <a:prstGeom prst="rightArrow">
            <a:avLst/>
          </a:prstGeom>
          <a:solidFill>
            <a:srgbClr val="D8E0DE"/>
          </a:solidFill>
          <a:ln/>
        </p:spPr>
      </p:sp>
      <p:sp>
        <p:nvSpPr>
          <p:cNvPr id="28" name="Shape 26"/>
          <p:cNvSpPr/>
          <p:nvPr/>
        </p:nvSpPr>
        <p:spPr>
          <a:xfrm>
            <a:off x="8091221" y="1828800"/>
            <a:ext cx="1652473" cy="1371600"/>
          </a:xfrm>
          <a:prstGeom prst="roundRect">
            <a:avLst>
              <a:gd name="adj" fmla="val 4000"/>
            </a:avLst>
          </a:prstGeom>
          <a:solidFill>
            <a:srgbClr val="EFF6F5"/>
          </a:solidFill>
          <a:ln w="12700">
            <a:solidFill>
              <a:srgbClr val="D8E0DE"/>
            </a:solidFill>
            <a:prstDash val="solid"/>
          </a:ln>
        </p:spPr>
      </p:sp>
      <p:sp>
        <p:nvSpPr>
          <p:cNvPr id="29" name="Shape 27"/>
          <p:cNvSpPr/>
          <p:nvPr/>
        </p:nvSpPr>
        <p:spPr>
          <a:xfrm>
            <a:off x="8091221" y="1828800"/>
            <a:ext cx="50292" cy="1371600"/>
          </a:xfrm>
          <a:prstGeom prst="rect">
            <a:avLst/>
          </a:prstGeom>
          <a:solidFill>
            <a:srgbClr val="15766D"/>
          </a:solidFill>
          <a:ln/>
        </p:spPr>
      </p:sp>
      <p:sp>
        <p:nvSpPr>
          <p:cNvPr id="30" name="Text 28"/>
          <p:cNvSpPr/>
          <p:nvPr/>
        </p:nvSpPr>
        <p:spPr>
          <a:xfrm>
            <a:off x="8292389" y="1975104"/>
            <a:ext cx="1286713" cy="274320"/>
          </a:xfrm>
          <a:prstGeom prst="rect">
            <a:avLst/>
          </a:prstGeom>
          <a:noFill/>
          <a:ln/>
        </p:spPr>
        <p:txBody>
          <a:bodyPr wrap="square" rtlCol="0" anchor="ctr"/>
          <a:lstStyle/>
          <a:p>
            <a:pPr indent="0" marL="0">
              <a:buNone/>
            </a:pPr>
            <a:r>
              <a:rPr lang="en-US" sz="1050" b="1" dirty="0">
                <a:solidFill>
                  <a:srgbClr val="12312C"/>
                </a:solidFill>
                <a:latin typeface="Segoe UI" pitchFamily="34" charset="0"/>
                <a:ea typeface="Segoe UI" pitchFamily="34" charset="-122"/>
                <a:cs typeface="Segoe UI" pitchFamily="34" charset="-120"/>
              </a:rPr>
              <a:t>Dialog engine</a:t>
            </a:r>
            <a:endParaRPr lang="en-US" sz="1050" dirty="0"/>
          </a:p>
        </p:txBody>
      </p:sp>
      <p:sp>
        <p:nvSpPr>
          <p:cNvPr id="31" name="Text 29"/>
          <p:cNvSpPr/>
          <p:nvPr/>
        </p:nvSpPr>
        <p:spPr>
          <a:xfrm>
            <a:off x="8292389" y="2286000"/>
            <a:ext cx="1286713" cy="786384"/>
          </a:xfrm>
          <a:prstGeom prst="rect">
            <a:avLst/>
          </a:prstGeom>
          <a:noFill/>
          <a:ln/>
        </p:spPr>
        <p:txBody>
          <a:bodyPr wrap="square" rtlCol="0" anchor="t"/>
          <a:lstStyle/>
          <a:p>
            <a:pPr indent="0" marL="0">
              <a:buNone/>
            </a:pPr>
            <a:r>
              <a:rPr lang="en-US" sz="1000" dirty="0">
                <a:solidFill>
                  <a:srgbClr val="3E4C59"/>
                </a:solidFill>
                <a:latin typeface="Segoe UI" pitchFamily="34" charset="0"/>
                <a:ea typeface="Segoe UI" pitchFamily="34" charset="-122"/>
                <a:cs typeface="Segoe UI" pitchFamily="34" charset="-120"/>
              </a:rPr>
              <a:t>login · register · CRUD</a:t>
            </a:r>
            <a:endParaRPr lang="en-US" sz="1000" dirty="0"/>
          </a:p>
          <a:p>
            <a:pPr indent="0" marL="0">
              <a:buNone/>
            </a:pPr>
            <a:r>
              <a:rPr lang="en-US" sz="1000" dirty="0">
                <a:solidFill>
                  <a:srgbClr val="3E4C59"/>
                </a:solidFill>
                <a:latin typeface="Segoe UI" pitchFamily="34" charset="0"/>
                <a:ea typeface="Segoe UI" pitchFamily="34" charset="-122"/>
                <a:cs typeface="Segoe UI" pitchFamily="34" charset="-120"/>
              </a:rPr>
              <a:t>account options</a:t>
            </a:r>
            <a:endParaRPr lang="en-US" sz="1000" dirty="0"/>
          </a:p>
        </p:txBody>
      </p:sp>
      <p:sp>
        <p:nvSpPr>
          <p:cNvPr id="32" name="Shape 30"/>
          <p:cNvSpPr/>
          <p:nvPr/>
        </p:nvSpPr>
        <p:spPr>
          <a:xfrm>
            <a:off x="9784842" y="2395728"/>
            <a:ext cx="146304" cy="237744"/>
          </a:xfrm>
          <a:prstGeom prst="rightArrow">
            <a:avLst/>
          </a:prstGeom>
          <a:solidFill>
            <a:srgbClr val="D8E0DE"/>
          </a:solidFill>
          <a:ln/>
        </p:spPr>
      </p:sp>
      <p:sp>
        <p:nvSpPr>
          <p:cNvPr id="33" name="Shape 31"/>
          <p:cNvSpPr/>
          <p:nvPr/>
        </p:nvSpPr>
        <p:spPr>
          <a:xfrm>
            <a:off x="9972294" y="1828800"/>
            <a:ext cx="1652473" cy="1371600"/>
          </a:xfrm>
          <a:prstGeom prst="roundRect">
            <a:avLst>
              <a:gd name="adj" fmla="val 4000"/>
            </a:avLst>
          </a:prstGeom>
          <a:solidFill>
            <a:srgbClr val="EFF6F5"/>
          </a:solidFill>
          <a:ln w="12700">
            <a:solidFill>
              <a:srgbClr val="D8E0DE"/>
            </a:solidFill>
            <a:prstDash val="solid"/>
          </a:ln>
        </p:spPr>
      </p:sp>
      <p:sp>
        <p:nvSpPr>
          <p:cNvPr id="34" name="Shape 32"/>
          <p:cNvSpPr/>
          <p:nvPr/>
        </p:nvSpPr>
        <p:spPr>
          <a:xfrm>
            <a:off x="9972294" y="1828800"/>
            <a:ext cx="50292" cy="1371600"/>
          </a:xfrm>
          <a:prstGeom prst="rect">
            <a:avLst/>
          </a:prstGeom>
          <a:solidFill>
            <a:srgbClr val="15766D"/>
          </a:solidFill>
          <a:ln/>
        </p:spPr>
      </p:sp>
      <p:sp>
        <p:nvSpPr>
          <p:cNvPr id="35" name="Text 33"/>
          <p:cNvSpPr/>
          <p:nvPr/>
        </p:nvSpPr>
        <p:spPr>
          <a:xfrm>
            <a:off x="10173462" y="1975104"/>
            <a:ext cx="1286713" cy="274320"/>
          </a:xfrm>
          <a:prstGeom prst="rect">
            <a:avLst/>
          </a:prstGeom>
          <a:noFill/>
          <a:ln/>
        </p:spPr>
        <p:txBody>
          <a:bodyPr wrap="square" rtlCol="0" anchor="ctr"/>
          <a:lstStyle/>
          <a:p>
            <a:pPr indent="0" marL="0">
              <a:buNone/>
            </a:pPr>
            <a:r>
              <a:rPr lang="en-US" sz="1050" b="1" dirty="0">
                <a:solidFill>
                  <a:srgbClr val="12312C"/>
                </a:solidFill>
                <a:latin typeface="Segoe UI" pitchFamily="34" charset="0"/>
                <a:ea typeface="Segoe UI" pitchFamily="34" charset="-122"/>
                <a:cs typeface="Segoe UI" pitchFamily="34" charset="-120"/>
              </a:rPr>
              <a:t>REST resource</a:t>
            </a:r>
            <a:endParaRPr lang="en-US" sz="1050" dirty="0"/>
          </a:p>
        </p:txBody>
      </p:sp>
      <p:sp>
        <p:nvSpPr>
          <p:cNvPr id="36" name="Text 34"/>
          <p:cNvSpPr/>
          <p:nvPr/>
        </p:nvSpPr>
        <p:spPr>
          <a:xfrm>
            <a:off x="10173462" y="2286000"/>
            <a:ext cx="1286713" cy="786384"/>
          </a:xfrm>
          <a:prstGeom prst="rect">
            <a:avLst/>
          </a:prstGeom>
          <a:noFill/>
          <a:ln/>
        </p:spPr>
        <p:txBody>
          <a:bodyPr wrap="square" rtlCol="0" anchor="t"/>
          <a:lstStyle/>
          <a:p>
            <a:pPr indent="0" marL="0">
              <a:buNone/>
            </a:pPr>
            <a:r>
              <a:rPr lang="en-US" sz="1000" dirty="0">
                <a:solidFill>
                  <a:srgbClr val="3E4C59"/>
                </a:solidFill>
                <a:latin typeface="Segoe UI" pitchFamily="34" charset="0"/>
                <a:ea typeface="Segoe UI" pitchFamily="34" charset="-122"/>
                <a:cs typeface="Segoe UI" pitchFamily="34" charset="-120"/>
              </a:rPr>
              <a:t>GET · POST · PUT · DELETE</a:t>
            </a:r>
            <a:endParaRPr lang="en-US" sz="1000" dirty="0"/>
          </a:p>
        </p:txBody>
      </p:sp>
      <p:sp>
        <p:nvSpPr>
          <p:cNvPr id="37" name="Shape 35"/>
          <p:cNvSpPr/>
          <p:nvPr/>
        </p:nvSpPr>
        <p:spPr>
          <a:xfrm>
            <a:off x="566928" y="3520440"/>
            <a:ext cx="5391760" cy="1691640"/>
          </a:xfrm>
          <a:prstGeom prst="roundRect">
            <a:avLst>
              <a:gd name="adj" fmla="val 3243"/>
            </a:avLst>
          </a:prstGeom>
          <a:solidFill>
            <a:srgbClr val="EFF6F5"/>
          </a:solidFill>
          <a:ln w="12700">
            <a:solidFill>
              <a:srgbClr val="D8E0DE"/>
            </a:solidFill>
            <a:prstDash val="solid"/>
          </a:ln>
        </p:spPr>
      </p:sp>
      <p:sp>
        <p:nvSpPr>
          <p:cNvPr id="38" name="Shape 36"/>
          <p:cNvSpPr/>
          <p:nvPr/>
        </p:nvSpPr>
        <p:spPr>
          <a:xfrm>
            <a:off x="566928" y="3520440"/>
            <a:ext cx="50292" cy="1691640"/>
          </a:xfrm>
          <a:prstGeom prst="rect">
            <a:avLst/>
          </a:prstGeom>
          <a:solidFill>
            <a:srgbClr val="15766D"/>
          </a:solidFill>
          <a:ln/>
        </p:spPr>
      </p:sp>
      <p:sp>
        <p:nvSpPr>
          <p:cNvPr id="39" name="Text 37"/>
          <p:cNvSpPr/>
          <p:nvPr/>
        </p:nvSpPr>
        <p:spPr>
          <a:xfrm>
            <a:off x="768096" y="3666744"/>
            <a:ext cx="5026000"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Retrieval</a:t>
            </a:r>
            <a:endParaRPr lang="en-US" sz="1300" dirty="0"/>
          </a:p>
        </p:txBody>
      </p:sp>
      <p:sp>
        <p:nvSpPr>
          <p:cNvPr id="40" name="Text 38"/>
          <p:cNvSpPr/>
          <p:nvPr/>
        </p:nvSpPr>
        <p:spPr>
          <a:xfrm>
            <a:off x="768096" y="3977640"/>
            <a:ext cx="5026000" cy="1106424"/>
          </a:xfrm>
          <a:prstGeom prst="rect">
            <a:avLst/>
          </a:prstGeom>
          <a:noFill/>
          <a:ln/>
        </p:spPr>
        <p:txBody>
          <a:bodyPr wrap="square" rtlCol="0" anchor="t"/>
          <a:lstStyle/>
          <a:p>
            <a:pPr indent="0" marL="0">
              <a:buNone/>
            </a:pPr>
            <a:r>
              <a:rPr lang="en-US" sz="1250" dirty="0">
                <a:solidFill>
                  <a:srgbClr val="3E4C59"/>
                </a:solidFill>
                <a:latin typeface="Segoe UI" pitchFamily="34" charset="0"/>
                <a:ea typeface="Segoe UI" pitchFamily="34" charset="-122"/>
                <a:cs typeface="Segoe UI" pitchFamily="34" charset="-120"/>
              </a:rPr>
              <a:t>Hybrid keyword and semantic ranking over the crawled corpus. Stemming and concept sets let paraphrases match, so “what do you do for CX?” resolves to an Agentic AI document. Answers carry a source link.</a:t>
            </a:r>
            <a:endParaRPr lang="en-US" sz="1250" dirty="0"/>
          </a:p>
        </p:txBody>
      </p:sp>
      <p:sp>
        <p:nvSpPr>
          <p:cNvPr id="41" name="Shape 39"/>
          <p:cNvSpPr/>
          <p:nvPr/>
        </p:nvSpPr>
        <p:spPr>
          <a:xfrm>
            <a:off x="6233008" y="3520440"/>
            <a:ext cx="5391760" cy="1691640"/>
          </a:xfrm>
          <a:prstGeom prst="roundRect">
            <a:avLst>
              <a:gd name="adj" fmla="val 3243"/>
            </a:avLst>
          </a:prstGeom>
          <a:solidFill>
            <a:srgbClr val="EFF6F5"/>
          </a:solidFill>
          <a:ln w="12700">
            <a:solidFill>
              <a:srgbClr val="D8E0DE"/>
            </a:solidFill>
            <a:prstDash val="solid"/>
          </a:ln>
        </p:spPr>
      </p:sp>
      <p:sp>
        <p:nvSpPr>
          <p:cNvPr id="42" name="Shape 40"/>
          <p:cNvSpPr/>
          <p:nvPr/>
        </p:nvSpPr>
        <p:spPr>
          <a:xfrm>
            <a:off x="6233008" y="3520440"/>
            <a:ext cx="50292" cy="1691640"/>
          </a:xfrm>
          <a:prstGeom prst="rect">
            <a:avLst/>
          </a:prstGeom>
          <a:solidFill>
            <a:srgbClr val="B7791F"/>
          </a:solidFill>
          <a:ln/>
        </p:spPr>
      </p:sp>
      <p:sp>
        <p:nvSpPr>
          <p:cNvPr id="43" name="Text 41"/>
          <p:cNvSpPr/>
          <p:nvPr/>
        </p:nvSpPr>
        <p:spPr>
          <a:xfrm>
            <a:off x="6434176" y="3666744"/>
            <a:ext cx="5026000"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Guardrails</a:t>
            </a:r>
            <a:endParaRPr lang="en-US" sz="1300" dirty="0"/>
          </a:p>
        </p:txBody>
      </p:sp>
      <p:sp>
        <p:nvSpPr>
          <p:cNvPr id="44" name="Text 42"/>
          <p:cNvSpPr/>
          <p:nvPr/>
        </p:nvSpPr>
        <p:spPr>
          <a:xfrm>
            <a:off x="6434176" y="3977640"/>
            <a:ext cx="5026000" cy="1106424"/>
          </a:xfrm>
          <a:prstGeom prst="rect">
            <a:avLst/>
          </a:prstGeom>
          <a:noFill/>
          <a:ln/>
        </p:spPr>
        <p:txBody>
          <a:bodyPr wrap="square" rtlCol="0" anchor="t"/>
          <a:lstStyle/>
          <a:p>
            <a:pPr indent="0" marL="0">
              <a:buNone/>
            </a:pPr>
            <a:r>
              <a:rPr lang="en-US" sz="1250" dirty="0">
                <a:solidFill>
                  <a:srgbClr val="3E4C59"/>
                </a:solidFill>
                <a:latin typeface="Segoe UI" pitchFamily="34" charset="0"/>
                <a:ea typeface="Segoe UI" pitchFamily="34" charset="-122"/>
                <a:cs typeface="Segoe UI" pitchFamily="34" charset="-120"/>
              </a:rPr>
              <a:t>Unmatched questions route to an explicit fallback rather than a generated answer — the assistant never invents product claims. Sentiment is scored on every message so the session carries a tone label end to end.</a:t>
            </a:r>
            <a:endParaRPr lang="en-US" sz="1250" dirty="0"/>
          </a:p>
        </p:txBody>
      </p:sp>
      <p:sp>
        <p:nvSpPr>
          <p:cNvPr id="45" name="Text 43"/>
          <p:cNvSpPr/>
          <p:nvPr/>
        </p:nvSpPr>
        <p:spPr>
          <a:xfrm>
            <a:off x="566928" y="5440680"/>
            <a:ext cx="11057839" cy="365760"/>
          </a:xfrm>
          <a:prstGeom prst="rect">
            <a:avLst/>
          </a:prstGeom>
          <a:noFill/>
          <a:ln/>
        </p:spPr>
        <p:txBody>
          <a:bodyPr wrap="square" rtlCol="0" anchor="ctr"/>
          <a:lstStyle/>
          <a:p>
            <a:pPr algn="ctr" indent="0" marL="0">
              <a:buNone/>
            </a:pPr>
            <a:r>
              <a:rPr lang="en-US" sz="1200" b="1" dirty="0">
                <a:solidFill>
                  <a:srgbClr val="12312C"/>
                </a:solidFill>
                <a:latin typeface="Segoe UI" pitchFamily="34" charset="0"/>
                <a:ea typeface="Segoe UI" pitchFamily="34" charset="-122"/>
                <a:cs typeface="Segoe UI" pitchFamily="34" charset="-120"/>
              </a:rPr>
              <a:t>Every message traverses: sentiment → intent → retrieval or flow → response with a source or a safe fallback.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KNOWLEDGE</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The corpus is real, not invented</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4</a:t>
            </a:r>
            <a:endParaRPr lang="en-US" sz="850" dirty="0"/>
          </a:p>
        </p:txBody>
      </p:sp>
      <p:sp>
        <p:nvSpPr>
          <p:cNvPr id="8" name="Shape 6"/>
          <p:cNvSpPr/>
          <p:nvPr/>
        </p:nvSpPr>
        <p:spPr>
          <a:xfrm>
            <a:off x="566928" y="1554480"/>
            <a:ext cx="2103120" cy="1188720"/>
          </a:xfrm>
          <a:prstGeom prst="roundRect">
            <a:avLst>
              <a:gd name="adj" fmla="val 4615"/>
            </a:avLst>
          </a:prstGeom>
          <a:solidFill>
            <a:srgbClr val="FFFFFF"/>
          </a:solidFill>
          <a:ln w="12700">
            <a:solidFill>
              <a:srgbClr val="D8E0DE"/>
            </a:solidFill>
            <a:prstDash val="solid"/>
          </a:ln>
        </p:spPr>
      </p:sp>
      <p:sp>
        <p:nvSpPr>
          <p:cNvPr id="9" name="Text 7"/>
          <p:cNvSpPr/>
          <p:nvPr/>
        </p:nvSpPr>
        <p:spPr>
          <a:xfrm>
            <a:off x="566928" y="1700784"/>
            <a:ext cx="2103120" cy="475488"/>
          </a:xfrm>
          <a:prstGeom prst="rect">
            <a:avLst/>
          </a:prstGeom>
          <a:noFill/>
          <a:ln/>
        </p:spPr>
        <p:txBody>
          <a:bodyPr wrap="square" rtlCol="0" anchor="ctr"/>
          <a:lstStyle/>
          <a:p>
            <a:pPr algn="ctr" indent="0" marL="0">
              <a:buNone/>
            </a:pPr>
            <a:r>
              <a:rPr lang="en-US" sz="2600" b="1" dirty="0">
                <a:solidFill>
                  <a:srgbClr val="15766D"/>
                </a:solidFill>
                <a:latin typeface="Segoe UI" pitchFamily="34" charset="0"/>
                <a:ea typeface="Segoe UI" pitchFamily="34" charset="-122"/>
                <a:cs typeface="Segoe UI" pitchFamily="34" charset="-120"/>
              </a:rPr>
              <a:t>260</a:t>
            </a:r>
            <a:endParaRPr lang="en-US" sz="2600" dirty="0"/>
          </a:p>
        </p:txBody>
      </p:sp>
      <p:sp>
        <p:nvSpPr>
          <p:cNvPr id="10" name="Text 8"/>
          <p:cNvSpPr/>
          <p:nvPr/>
        </p:nvSpPr>
        <p:spPr>
          <a:xfrm>
            <a:off x="658368" y="2194560"/>
            <a:ext cx="1920240" cy="45720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documents crawled</a:t>
            </a:r>
            <a:endParaRPr lang="en-US" sz="1000" dirty="0"/>
          </a:p>
        </p:txBody>
      </p:sp>
      <p:sp>
        <p:nvSpPr>
          <p:cNvPr id="11" name="Shape 9"/>
          <p:cNvSpPr/>
          <p:nvPr/>
        </p:nvSpPr>
        <p:spPr>
          <a:xfrm>
            <a:off x="2852928" y="1554480"/>
            <a:ext cx="2103120" cy="1188720"/>
          </a:xfrm>
          <a:prstGeom prst="roundRect">
            <a:avLst>
              <a:gd name="adj" fmla="val 4615"/>
            </a:avLst>
          </a:prstGeom>
          <a:solidFill>
            <a:srgbClr val="FFFFFF"/>
          </a:solidFill>
          <a:ln w="12700">
            <a:solidFill>
              <a:srgbClr val="D8E0DE"/>
            </a:solidFill>
            <a:prstDash val="solid"/>
          </a:ln>
        </p:spPr>
      </p:sp>
      <p:sp>
        <p:nvSpPr>
          <p:cNvPr id="12" name="Text 10"/>
          <p:cNvSpPr/>
          <p:nvPr/>
        </p:nvSpPr>
        <p:spPr>
          <a:xfrm>
            <a:off x="2852928" y="1700784"/>
            <a:ext cx="2103120" cy="475488"/>
          </a:xfrm>
          <a:prstGeom prst="rect">
            <a:avLst/>
          </a:prstGeom>
          <a:noFill/>
          <a:ln/>
        </p:spPr>
        <p:txBody>
          <a:bodyPr wrap="square" rtlCol="0" anchor="ctr"/>
          <a:lstStyle/>
          <a:p>
            <a:pPr algn="ctr" indent="0" marL="0">
              <a:buNone/>
            </a:pPr>
            <a:r>
              <a:rPr lang="en-US" sz="2600" b="1" dirty="0">
                <a:solidFill>
                  <a:srgbClr val="15766D"/>
                </a:solidFill>
                <a:latin typeface="Segoe UI" pitchFamily="34" charset="0"/>
                <a:ea typeface="Segoe UI" pitchFamily="34" charset="-122"/>
                <a:cs typeface="Segoe UI" pitchFamily="34" charset="-120"/>
              </a:rPr>
              <a:t>42</a:t>
            </a:r>
            <a:endParaRPr lang="en-US" sz="2600" dirty="0"/>
          </a:p>
        </p:txBody>
      </p:sp>
      <p:sp>
        <p:nvSpPr>
          <p:cNvPr id="13" name="Text 11"/>
          <p:cNvSpPr/>
          <p:nvPr/>
        </p:nvSpPr>
        <p:spPr>
          <a:xfrm>
            <a:off x="2944368" y="2194560"/>
            <a:ext cx="1920240" cy="45720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FAQ entries</a:t>
            </a:r>
            <a:endParaRPr lang="en-US" sz="1000" dirty="0"/>
          </a:p>
        </p:txBody>
      </p:sp>
      <p:sp>
        <p:nvSpPr>
          <p:cNvPr id="14" name="Shape 12"/>
          <p:cNvSpPr/>
          <p:nvPr/>
        </p:nvSpPr>
        <p:spPr>
          <a:xfrm>
            <a:off x="5138928" y="1554480"/>
            <a:ext cx="2103120" cy="1188720"/>
          </a:xfrm>
          <a:prstGeom prst="roundRect">
            <a:avLst>
              <a:gd name="adj" fmla="val 4615"/>
            </a:avLst>
          </a:prstGeom>
          <a:solidFill>
            <a:srgbClr val="FFFFFF"/>
          </a:solidFill>
          <a:ln w="12700">
            <a:solidFill>
              <a:srgbClr val="D8E0DE"/>
            </a:solidFill>
            <a:prstDash val="solid"/>
          </a:ln>
        </p:spPr>
      </p:sp>
      <p:sp>
        <p:nvSpPr>
          <p:cNvPr id="15" name="Text 13"/>
          <p:cNvSpPr/>
          <p:nvPr/>
        </p:nvSpPr>
        <p:spPr>
          <a:xfrm>
            <a:off x="5138928" y="1700784"/>
            <a:ext cx="2103120" cy="475488"/>
          </a:xfrm>
          <a:prstGeom prst="rect">
            <a:avLst/>
          </a:prstGeom>
          <a:noFill/>
          <a:ln/>
        </p:spPr>
        <p:txBody>
          <a:bodyPr wrap="square" rtlCol="0" anchor="ctr"/>
          <a:lstStyle/>
          <a:p>
            <a:pPr algn="ctr" indent="0" marL="0">
              <a:buNone/>
            </a:pPr>
            <a:r>
              <a:rPr lang="en-US" sz="2600" b="1" dirty="0">
                <a:solidFill>
                  <a:srgbClr val="15766D"/>
                </a:solidFill>
                <a:latin typeface="Segoe UI" pitchFamily="34" charset="0"/>
                <a:ea typeface="Segoe UI" pitchFamily="34" charset="-122"/>
                <a:cs typeface="Segoe UI" pitchFamily="34" charset="-120"/>
              </a:rPr>
              <a:t>8</a:t>
            </a:r>
            <a:endParaRPr lang="en-US" sz="2600" dirty="0"/>
          </a:p>
        </p:txBody>
      </p:sp>
      <p:sp>
        <p:nvSpPr>
          <p:cNvPr id="16" name="Text 14"/>
          <p:cNvSpPr/>
          <p:nvPr/>
        </p:nvSpPr>
        <p:spPr>
          <a:xfrm>
            <a:off x="5230368" y="2194560"/>
            <a:ext cx="1920240" cy="45720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categories</a:t>
            </a:r>
            <a:endParaRPr lang="en-US" sz="1000" dirty="0"/>
          </a:p>
        </p:txBody>
      </p:sp>
      <p:sp>
        <p:nvSpPr>
          <p:cNvPr id="17" name="Shape 15"/>
          <p:cNvSpPr/>
          <p:nvPr/>
        </p:nvSpPr>
        <p:spPr>
          <a:xfrm>
            <a:off x="7424928" y="1554480"/>
            <a:ext cx="2103120" cy="1188720"/>
          </a:xfrm>
          <a:prstGeom prst="roundRect">
            <a:avLst>
              <a:gd name="adj" fmla="val 4615"/>
            </a:avLst>
          </a:prstGeom>
          <a:solidFill>
            <a:srgbClr val="FFFFFF"/>
          </a:solidFill>
          <a:ln w="12700">
            <a:solidFill>
              <a:srgbClr val="D8E0DE"/>
            </a:solidFill>
            <a:prstDash val="solid"/>
          </a:ln>
        </p:spPr>
      </p:sp>
      <p:sp>
        <p:nvSpPr>
          <p:cNvPr id="18" name="Text 16"/>
          <p:cNvSpPr/>
          <p:nvPr/>
        </p:nvSpPr>
        <p:spPr>
          <a:xfrm>
            <a:off x="7424928" y="1700784"/>
            <a:ext cx="2103120" cy="475488"/>
          </a:xfrm>
          <a:prstGeom prst="rect">
            <a:avLst/>
          </a:prstGeom>
          <a:noFill/>
          <a:ln/>
        </p:spPr>
        <p:txBody>
          <a:bodyPr wrap="square" rtlCol="0" anchor="ctr"/>
          <a:lstStyle/>
          <a:p>
            <a:pPr algn="ctr" indent="0" marL="0">
              <a:buNone/>
            </a:pPr>
            <a:r>
              <a:rPr lang="en-US" sz="2600" b="1" dirty="0">
                <a:solidFill>
                  <a:srgbClr val="15766D"/>
                </a:solidFill>
                <a:latin typeface="Segoe UI" pitchFamily="34" charset="0"/>
                <a:ea typeface="Segoe UI" pitchFamily="34" charset="-122"/>
                <a:cs typeface="Segoe UI" pitchFamily="34" charset="-120"/>
              </a:rPr>
              <a:t>5</a:t>
            </a:r>
            <a:endParaRPr lang="en-US" sz="2600" dirty="0"/>
          </a:p>
        </p:txBody>
      </p:sp>
      <p:sp>
        <p:nvSpPr>
          <p:cNvPr id="19" name="Text 17"/>
          <p:cNvSpPr/>
          <p:nvPr/>
        </p:nvSpPr>
        <p:spPr>
          <a:xfrm>
            <a:off x="7516368" y="2194560"/>
            <a:ext cx="1920240" cy="45720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service types</a:t>
            </a:r>
            <a:endParaRPr lang="en-US" sz="1000" dirty="0"/>
          </a:p>
        </p:txBody>
      </p:sp>
      <p:sp>
        <p:nvSpPr>
          <p:cNvPr id="20" name="Shape 18"/>
          <p:cNvSpPr/>
          <p:nvPr/>
        </p:nvSpPr>
        <p:spPr>
          <a:xfrm>
            <a:off x="9710928" y="1554480"/>
            <a:ext cx="1911096" cy="1188720"/>
          </a:xfrm>
          <a:prstGeom prst="roundRect">
            <a:avLst>
              <a:gd name="adj" fmla="val 4615"/>
            </a:avLst>
          </a:prstGeom>
          <a:solidFill>
            <a:srgbClr val="FFFFFF"/>
          </a:solidFill>
          <a:ln w="12700">
            <a:solidFill>
              <a:srgbClr val="D8E0DE"/>
            </a:solidFill>
            <a:prstDash val="solid"/>
          </a:ln>
        </p:spPr>
      </p:sp>
      <p:sp>
        <p:nvSpPr>
          <p:cNvPr id="21" name="Text 19"/>
          <p:cNvSpPr/>
          <p:nvPr/>
        </p:nvSpPr>
        <p:spPr>
          <a:xfrm>
            <a:off x="9710928" y="1700784"/>
            <a:ext cx="1911096" cy="475488"/>
          </a:xfrm>
          <a:prstGeom prst="rect">
            <a:avLst/>
          </a:prstGeom>
          <a:noFill/>
          <a:ln/>
        </p:spPr>
        <p:txBody>
          <a:bodyPr wrap="square" rtlCol="0" anchor="ctr"/>
          <a:lstStyle/>
          <a:p>
            <a:pPr algn="ctr" indent="0" marL="0">
              <a:buNone/>
            </a:pPr>
            <a:r>
              <a:rPr lang="en-US" sz="2600" b="1" dirty="0">
                <a:solidFill>
                  <a:srgbClr val="15766D"/>
                </a:solidFill>
                <a:latin typeface="Segoe UI" pitchFamily="34" charset="0"/>
                <a:ea typeface="Segoe UI" pitchFamily="34" charset="-122"/>
                <a:cs typeface="Segoe UI" pitchFamily="34" charset="-120"/>
              </a:rPr>
              <a:t>5</a:t>
            </a:r>
            <a:endParaRPr lang="en-US" sz="2600" dirty="0"/>
          </a:p>
        </p:txBody>
      </p:sp>
      <p:sp>
        <p:nvSpPr>
          <p:cNvPr id="22" name="Text 20"/>
          <p:cNvSpPr/>
          <p:nvPr/>
        </p:nvSpPr>
        <p:spPr>
          <a:xfrm>
            <a:off x="9802368" y="2194560"/>
            <a:ext cx="1728216" cy="45720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metadata filters</a:t>
            </a:r>
            <a:endParaRPr lang="en-US" sz="1000" dirty="0"/>
          </a:p>
        </p:txBody>
      </p:sp>
      <p:sp>
        <p:nvSpPr>
          <p:cNvPr id="23" name="Text 21"/>
          <p:cNvSpPr/>
          <p:nvPr/>
        </p:nvSpPr>
        <p:spPr>
          <a:xfrm>
            <a:off x="566928" y="2971800"/>
            <a:ext cx="4572000"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Category breakdown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3291840"/>
          <a:ext cx="5120640" cy="914400"/>
        </p:xfrm>
        <a:graphic>
          <a:graphicData uri="http://schemas.openxmlformats.org/drawingml/2006/table">
            <a:tbl>
              <a:tblPr/>
              <a:tblGrid>
                <a:gridCol w="2560320"/>
                <a:gridCol w="1280160"/>
                <a:gridCol w="1280160"/>
              </a:tblGrid>
              <a:tr h="274320">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Category</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solidFill>
                      <a:srgbClr val="15766D"/>
                    </a:solidFill>
                  </a:tcPr>
                </a:tc>
                <a:tc>
                  <a:txBody>
                    <a:bodyPr/>
                    <a:lstStyle/>
                    <a:p>
                      <a:pPr algn="r" indent="0" marL="0">
                        <a:buNone/>
                      </a:pPr>
                      <a:r>
                        <a:rPr lang="en-US" sz="1100" b="1" dirty="0">
                          <a:solidFill>
                            <a:srgbClr val="FFFFFF"/>
                          </a:solidFill>
                          <a:latin typeface="Segoe UI" pitchFamily="34" charset="0"/>
                          <a:ea typeface="Segoe UI" pitchFamily="34" charset="-122"/>
                          <a:cs typeface="Segoe UI" pitchFamily="34" charset="-120"/>
                        </a:rPr>
                        <a:t>Docs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solidFill>
                      <a:srgbClr val="15766D"/>
                    </a:solidFill>
                  </a:tcPr>
                </a:tc>
                <a:tc>
                  <a:txBody>
                    <a:bodyPr/>
                    <a:lstStyle/>
                    <a:p>
                      <a:pPr algn="r" indent="0" marL="0">
                        <a:buNone/>
                      </a:pPr>
                      <a:r>
                        <a:rPr lang="en-US" sz="1100" b="1" dirty="0">
                          <a:solidFill>
                            <a:srgbClr val="FFFFFF"/>
                          </a:solidFill>
                          <a:latin typeface="Segoe UI" pitchFamily="34" charset="0"/>
                          <a:ea typeface="Segoe UI" pitchFamily="34" charset="-122"/>
                          <a:cs typeface="Segoe UI" pitchFamily="34" charset="-120"/>
                        </a:rPr>
                        <a:t>Share</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solidFill>
                      <a:srgbClr val="15766D"/>
                    </a:solidFill>
                  </a:tcPr>
                </a:tc>
              </a:tr>
              <a:tr h="274320">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Services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b="1" dirty="0">
                          <a:solidFill>
                            <a:srgbClr val="12312C"/>
                          </a:solidFill>
                          <a:latin typeface="Segoe UI" pitchFamily="34" charset="0"/>
                          <a:ea typeface="Segoe UI" pitchFamily="34" charset="-122"/>
                          <a:cs typeface="Segoe UI" pitchFamily="34" charset="-120"/>
                        </a:rPr>
                        <a:t>74</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dirty="0">
                          <a:solidFill>
                            <a:srgbClr val="7B8794"/>
                          </a:solidFill>
                          <a:latin typeface="Segoe UI" pitchFamily="34" charset="0"/>
                          <a:ea typeface="Segoe UI" pitchFamily="34" charset="-122"/>
                          <a:cs typeface="Segoe UI" pitchFamily="34" charset="-120"/>
                        </a:rPr>
                        <a:t>28%</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274320">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FAQs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b="1" dirty="0">
                          <a:solidFill>
                            <a:srgbClr val="12312C"/>
                          </a:solidFill>
                          <a:latin typeface="Segoe UI" pitchFamily="34" charset="0"/>
                          <a:ea typeface="Segoe UI" pitchFamily="34" charset="-122"/>
                          <a:cs typeface="Segoe UI" pitchFamily="34" charset="-120"/>
                        </a:rPr>
                        <a:t>42</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dirty="0">
                          <a:solidFill>
                            <a:srgbClr val="7B8794"/>
                          </a:solidFill>
                          <a:latin typeface="Segoe UI" pitchFamily="34" charset="0"/>
                          <a:ea typeface="Segoe UI" pitchFamily="34" charset="-122"/>
                          <a:cs typeface="Segoe UI" pitchFamily="34" charset="-120"/>
                        </a:rPr>
                        <a:t>16%</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274320">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Blogs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b="1" dirty="0">
                          <a:solidFill>
                            <a:srgbClr val="12312C"/>
                          </a:solidFill>
                          <a:latin typeface="Segoe UI" pitchFamily="34" charset="0"/>
                          <a:ea typeface="Segoe UI" pitchFamily="34" charset="-122"/>
                          <a:cs typeface="Segoe UI" pitchFamily="34" charset="-120"/>
                        </a:rPr>
                        <a:t>38</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dirty="0">
                          <a:solidFill>
                            <a:srgbClr val="7B8794"/>
                          </a:solidFill>
                          <a:latin typeface="Segoe UI" pitchFamily="34" charset="0"/>
                          <a:ea typeface="Segoe UI" pitchFamily="34" charset="-122"/>
                          <a:cs typeface="Segoe UI" pitchFamily="34" charset="-120"/>
                        </a:rPr>
                        <a:t>15%</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274320">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About</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b="1" dirty="0">
                          <a:solidFill>
                            <a:srgbClr val="12312C"/>
                          </a:solidFill>
                          <a:latin typeface="Segoe UI" pitchFamily="34" charset="0"/>
                          <a:ea typeface="Segoe UI" pitchFamily="34" charset="-122"/>
                          <a:cs typeface="Segoe UI" pitchFamily="34" charset="-120"/>
                        </a:rPr>
                        <a:t>28</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dirty="0">
                          <a:solidFill>
                            <a:srgbClr val="7B8794"/>
                          </a:solidFill>
                          <a:latin typeface="Segoe UI" pitchFamily="34" charset="0"/>
                          <a:ea typeface="Segoe UI" pitchFamily="34" charset="-122"/>
                          <a:cs typeface="Segoe UI" pitchFamily="34" charset="-120"/>
                        </a:rPr>
                        <a:t>11%</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274320">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Case studies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b="1" dirty="0">
                          <a:solidFill>
                            <a:srgbClr val="12312C"/>
                          </a:solidFill>
                          <a:latin typeface="Segoe UI" pitchFamily="34" charset="0"/>
                          <a:ea typeface="Segoe UI" pitchFamily="34" charset="-122"/>
                          <a:cs typeface="Segoe UI" pitchFamily="34" charset="-120"/>
                        </a:rPr>
                        <a:t>24</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dirty="0">
                          <a:solidFill>
                            <a:srgbClr val="7B8794"/>
                          </a:solidFill>
                          <a:latin typeface="Segoe UI" pitchFamily="34" charset="0"/>
                          <a:ea typeface="Segoe UI" pitchFamily="34" charset="-122"/>
                          <a:cs typeface="Segoe UI" pitchFamily="34" charset="-120"/>
                        </a:rPr>
                        <a:t>9%</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274320">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Resources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b="1" dirty="0">
                          <a:solidFill>
                            <a:srgbClr val="12312C"/>
                          </a:solidFill>
                          <a:latin typeface="Segoe UI" pitchFamily="34" charset="0"/>
                          <a:ea typeface="Segoe UI" pitchFamily="34" charset="-122"/>
                          <a:cs typeface="Segoe UI" pitchFamily="34" charset="-120"/>
                        </a:rPr>
                        <a:t>21</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dirty="0">
                          <a:solidFill>
                            <a:srgbClr val="7B8794"/>
                          </a:solidFill>
                          <a:latin typeface="Segoe UI" pitchFamily="34" charset="0"/>
                          <a:ea typeface="Segoe UI" pitchFamily="34" charset="-122"/>
                          <a:cs typeface="Segoe UI" pitchFamily="34" charset="-120"/>
                        </a:rPr>
                        <a:t>8%</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274320">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Platforms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b="1" dirty="0">
                          <a:solidFill>
                            <a:srgbClr val="12312C"/>
                          </a:solidFill>
                          <a:latin typeface="Segoe UI" pitchFamily="34" charset="0"/>
                          <a:ea typeface="Segoe UI" pitchFamily="34" charset="-122"/>
                          <a:cs typeface="Segoe UI" pitchFamily="34" charset="-120"/>
                        </a:rPr>
                        <a:t>19</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dirty="0">
                          <a:solidFill>
                            <a:srgbClr val="7B8794"/>
                          </a:solidFill>
                          <a:latin typeface="Segoe UI" pitchFamily="34" charset="0"/>
                          <a:ea typeface="Segoe UI" pitchFamily="34" charset="-122"/>
                          <a:cs typeface="Segoe UI" pitchFamily="34" charset="-120"/>
                        </a:rPr>
                        <a:t>7%</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274320">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Company</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b="1" dirty="0">
                          <a:solidFill>
                            <a:srgbClr val="12312C"/>
                          </a:solidFill>
                          <a:latin typeface="Segoe UI" pitchFamily="34" charset="0"/>
                          <a:ea typeface="Segoe UI" pitchFamily="34" charset="-122"/>
                          <a:cs typeface="Segoe UI" pitchFamily="34" charset="-120"/>
                        </a:rPr>
                        <a:t>14</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algn="r" indent="0" marL="0">
                        <a:buNone/>
                      </a:pPr>
                      <a:r>
                        <a:rPr lang="en-US" sz="1100" dirty="0">
                          <a:solidFill>
                            <a:srgbClr val="7B8794"/>
                          </a:solidFill>
                          <a:latin typeface="Segoe UI" pitchFamily="34" charset="0"/>
                          <a:ea typeface="Segoe UI" pitchFamily="34" charset="-122"/>
                          <a:cs typeface="Segoe UI" pitchFamily="34" charset="-120"/>
                        </a:rPr>
                        <a:t>5%</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bl>
          </a:graphicData>
        </a:graphic>
      </p:graphicFrame>
      <p:sp>
        <p:nvSpPr>
          <p:cNvPr id="25" name="Shape 22"/>
          <p:cNvSpPr/>
          <p:nvPr/>
        </p:nvSpPr>
        <p:spPr>
          <a:xfrm>
            <a:off x="6035040" y="3291840"/>
            <a:ext cx="5586984" cy="2331720"/>
          </a:xfrm>
          <a:prstGeom prst="roundRect">
            <a:avLst>
              <a:gd name="adj" fmla="val 2353"/>
            </a:avLst>
          </a:prstGeom>
          <a:solidFill>
            <a:srgbClr val="EFF6F5"/>
          </a:solidFill>
          <a:ln w="12700">
            <a:solidFill>
              <a:srgbClr val="D8E0DE"/>
            </a:solidFill>
            <a:prstDash val="solid"/>
          </a:ln>
        </p:spPr>
      </p:sp>
      <p:sp>
        <p:nvSpPr>
          <p:cNvPr id="26" name="Shape 23"/>
          <p:cNvSpPr/>
          <p:nvPr/>
        </p:nvSpPr>
        <p:spPr>
          <a:xfrm>
            <a:off x="6035040" y="3291840"/>
            <a:ext cx="50292" cy="2331720"/>
          </a:xfrm>
          <a:prstGeom prst="rect">
            <a:avLst/>
          </a:prstGeom>
          <a:solidFill>
            <a:srgbClr val="15766D"/>
          </a:solidFill>
          <a:ln/>
        </p:spPr>
      </p:sp>
      <p:sp>
        <p:nvSpPr>
          <p:cNvPr id="27" name="Text 24"/>
          <p:cNvSpPr/>
          <p:nvPr/>
        </p:nvSpPr>
        <p:spPr>
          <a:xfrm>
            <a:off x="6236208" y="3438144"/>
            <a:ext cx="5221224"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Crawler behaviour worth noting</a:t>
            </a:r>
            <a:endParaRPr lang="en-US" sz="1200" dirty="0"/>
          </a:p>
        </p:txBody>
      </p:sp>
      <p:sp>
        <p:nvSpPr>
          <p:cNvPr id="28" name="Text 25"/>
          <p:cNvSpPr/>
          <p:nvPr/>
        </p:nvSpPr>
        <p:spPr>
          <a:xfrm>
            <a:off x="6236208" y="3749040"/>
            <a:ext cx="5221224" cy="1746504"/>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Entry URL http://www.pronixinc.com resolves to the live origin https://pronix.ai, so redirects are followed rather than assumed.</a:t>
            </a:r>
            <a:endParaRPr lang="en-US" sz="1150" dirty="0"/>
          </a:p>
          <a:p>
            <a:pPr indent="0" marL="0">
              <a:buNone/>
            </a:pP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Every document retains title, keywords, excerpt, answer text, category and source URL, which is what makes filtered answers and citations possible.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SEARCH AI</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Retrieval design</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5</a:t>
            </a:r>
            <a:endParaRPr lang="en-US" sz="850" dirty="0"/>
          </a:p>
        </p:txBody>
      </p:sp>
      <p:sp>
        <p:nvSpPr>
          <p:cNvPr id="8" name="Shape 6"/>
          <p:cNvSpPr/>
          <p:nvPr/>
        </p:nvSpPr>
        <p:spPr>
          <a:xfrm>
            <a:off x="566928" y="1554480"/>
            <a:ext cx="5391760" cy="1965960"/>
          </a:xfrm>
          <a:prstGeom prst="roundRect">
            <a:avLst>
              <a:gd name="adj" fmla="val 2791"/>
            </a:avLst>
          </a:prstGeom>
          <a:solidFill>
            <a:srgbClr val="EFF6F5"/>
          </a:solidFill>
          <a:ln w="12700">
            <a:solidFill>
              <a:srgbClr val="D8E0DE"/>
            </a:solidFill>
            <a:prstDash val="solid"/>
          </a:ln>
        </p:spPr>
      </p:sp>
      <p:sp>
        <p:nvSpPr>
          <p:cNvPr id="9" name="Shape 7"/>
          <p:cNvSpPr/>
          <p:nvPr/>
        </p:nvSpPr>
        <p:spPr>
          <a:xfrm>
            <a:off x="566928" y="1554480"/>
            <a:ext cx="50292" cy="1965960"/>
          </a:xfrm>
          <a:prstGeom prst="rect">
            <a:avLst/>
          </a:prstGeom>
          <a:solidFill>
            <a:srgbClr val="15766D"/>
          </a:solidFill>
          <a:ln/>
        </p:spPr>
      </p:sp>
      <p:sp>
        <p:nvSpPr>
          <p:cNvPr id="10" name="Text 8"/>
          <p:cNvSpPr/>
          <p:nvPr/>
        </p:nvSpPr>
        <p:spPr>
          <a:xfrm>
            <a:off x="768096" y="1700784"/>
            <a:ext cx="5026000"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Hybrid ranking</a:t>
            </a:r>
            <a:endParaRPr lang="en-US" sz="1300" dirty="0"/>
          </a:p>
        </p:txBody>
      </p:sp>
      <p:sp>
        <p:nvSpPr>
          <p:cNvPr id="11" name="Text 9"/>
          <p:cNvSpPr/>
          <p:nvPr/>
        </p:nvSpPr>
        <p:spPr>
          <a:xfrm>
            <a:off x="768096" y="2011680"/>
            <a:ext cx="5026000" cy="1380744"/>
          </a:xfrm>
          <a:prstGeom prst="rect">
            <a:avLst/>
          </a:prstGeom>
          <a:noFill/>
          <a:ln/>
        </p:spPr>
        <p:txBody>
          <a:bodyPr wrap="square" rtlCol="0" anchor="t"/>
          <a:lstStyle/>
          <a:p>
            <a:pPr indent="0" marL="0">
              <a:buNone/>
            </a:pPr>
            <a:r>
              <a:rPr lang="en-US" sz="1250" dirty="0">
                <a:solidFill>
                  <a:srgbClr val="3E4C59"/>
                </a:solidFill>
                <a:latin typeface="Segoe UI" pitchFamily="34" charset="0"/>
                <a:ea typeface="Segoe UI" pitchFamily="34" charset="-122"/>
                <a:cs typeface="Segoe UI" pitchFamily="34" charset="-120"/>
              </a:rPr>
              <a:t>Retrieval mode: hybrid</a:t>
            </a:r>
            <a:endParaRPr lang="en-US" sz="1250" dirty="0"/>
          </a:p>
          <a:p>
            <a:pPr indent="0" marL="0">
              <a:buNone/>
            </a:pPr>
            <a:endParaRPr lang="en-US" sz="1250" dirty="0"/>
          </a:p>
          <a:p>
            <a:pPr indent="0" marL="0">
              <a:buNone/>
            </a:pPr>
            <a:r>
              <a:rPr lang="en-US" sz="1250" dirty="0">
                <a:solidFill>
                  <a:srgbClr val="3E4C59"/>
                </a:solidFill>
                <a:latin typeface="Segoe UI" pitchFamily="34" charset="0"/>
                <a:ea typeface="Segoe UI" pitchFamily="34" charset="-122"/>
                <a:cs typeface="Segoe UI" pitchFamily="34" charset="-120"/>
              </a:rPr>
              <a:t>Rankers: keyword + semantic</a:t>
            </a:r>
            <a:endParaRPr lang="en-US" sz="1250" dirty="0"/>
          </a:p>
          <a:p>
            <a:pPr indent="0" marL="0">
              <a:buNone/>
            </a:pPr>
            <a:endParaRPr lang="en-US" sz="1250" dirty="0"/>
          </a:p>
          <a:p>
            <a:pPr indent="0" marL="0">
              <a:buNone/>
            </a:pPr>
            <a:r>
              <a:rPr lang="en-US" sz="1250" dirty="0">
                <a:solidFill>
                  <a:srgbClr val="3E4C59"/>
                </a:solidFill>
                <a:latin typeface="Segoe UI" pitchFamily="34" charset="0"/>
                <a:ea typeface="Segoe UI" pitchFamily="34" charset="-122"/>
                <a:cs typeface="Segoe UI" pitchFamily="34" charset="-120"/>
              </a:rPr>
              <a:t>Metadata fields: content_type, service_type, category, blog_tag</a:t>
            </a:r>
            <a:endParaRPr lang="en-US" sz="1250" dirty="0"/>
          </a:p>
        </p:txBody>
      </p:sp>
      <p:sp>
        <p:nvSpPr>
          <p:cNvPr id="12" name="Shape 10"/>
          <p:cNvSpPr/>
          <p:nvPr/>
        </p:nvSpPr>
        <p:spPr>
          <a:xfrm>
            <a:off x="6233008" y="1554480"/>
            <a:ext cx="5391760" cy="1965960"/>
          </a:xfrm>
          <a:prstGeom prst="roundRect">
            <a:avLst>
              <a:gd name="adj" fmla="val 2791"/>
            </a:avLst>
          </a:prstGeom>
          <a:solidFill>
            <a:srgbClr val="EFF6F5"/>
          </a:solidFill>
          <a:ln w="12700">
            <a:solidFill>
              <a:srgbClr val="D8E0DE"/>
            </a:solidFill>
            <a:prstDash val="solid"/>
          </a:ln>
        </p:spPr>
      </p:sp>
      <p:sp>
        <p:nvSpPr>
          <p:cNvPr id="13" name="Shape 11"/>
          <p:cNvSpPr/>
          <p:nvPr/>
        </p:nvSpPr>
        <p:spPr>
          <a:xfrm>
            <a:off x="6233008" y="1554480"/>
            <a:ext cx="50292" cy="1965960"/>
          </a:xfrm>
          <a:prstGeom prst="rect">
            <a:avLst/>
          </a:prstGeom>
          <a:solidFill>
            <a:srgbClr val="B7791F"/>
          </a:solidFill>
          <a:ln/>
        </p:spPr>
      </p:sp>
      <p:sp>
        <p:nvSpPr>
          <p:cNvPr id="14" name="Text 12"/>
          <p:cNvSpPr/>
          <p:nvPr/>
        </p:nvSpPr>
        <p:spPr>
          <a:xfrm>
            <a:off x="6434176" y="1700784"/>
            <a:ext cx="5026000"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Local implementation</a:t>
            </a:r>
            <a:endParaRPr lang="en-US" sz="1300" dirty="0"/>
          </a:p>
        </p:txBody>
      </p:sp>
      <p:sp>
        <p:nvSpPr>
          <p:cNvPr id="15" name="Text 13"/>
          <p:cNvSpPr/>
          <p:nvPr/>
        </p:nvSpPr>
        <p:spPr>
          <a:xfrm>
            <a:off x="6434176" y="2011680"/>
            <a:ext cx="5026000" cy="1380744"/>
          </a:xfrm>
          <a:prstGeom prst="rect">
            <a:avLst/>
          </a:prstGeom>
          <a:noFill/>
          <a:ln/>
        </p:spPr>
        <p:txBody>
          <a:bodyPr wrap="square" rtlCol="0" anchor="t"/>
          <a:lstStyle/>
          <a:p>
            <a:pPr indent="0" marL="0">
              <a:buNone/>
            </a:pPr>
            <a:r>
              <a:rPr lang="en-US" sz="1250" dirty="0">
                <a:solidFill>
                  <a:srgbClr val="3E4C59"/>
                </a:solidFill>
                <a:latin typeface="Segoe UI" pitchFamily="34" charset="0"/>
                <a:ea typeface="Segoe UI" pitchFamily="34" charset="-122"/>
                <a:cs typeface="Segoe UI" pitchFamily="34" charset="-120"/>
              </a:rPr>
              <a:t>Token overlap plus stemming plus concept sets, weighted by field. Fully deterministic, which is why it is unit-testable and why the same query always yields the same ranked result.</a:t>
            </a:r>
            <a:endParaRPr lang="en-US" sz="1250" dirty="0"/>
          </a:p>
        </p:txBody>
      </p:sp>
      <p:sp>
        <p:nvSpPr>
          <p:cNvPr id="16" name="Shape 14"/>
          <p:cNvSpPr/>
          <p:nvPr/>
        </p:nvSpPr>
        <p:spPr>
          <a:xfrm>
            <a:off x="566928" y="3703320"/>
            <a:ext cx="5391760" cy="1920240"/>
          </a:xfrm>
          <a:prstGeom prst="roundRect">
            <a:avLst>
              <a:gd name="adj" fmla="val 2857"/>
            </a:avLst>
          </a:prstGeom>
          <a:solidFill>
            <a:srgbClr val="EFF6F5"/>
          </a:solidFill>
          <a:ln w="12700">
            <a:solidFill>
              <a:srgbClr val="D8E0DE"/>
            </a:solidFill>
            <a:prstDash val="solid"/>
          </a:ln>
        </p:spPr>
      </p:sp>
      <p:sp>
        <p:nvSpPr>
          <p:cNvPr id="17" name="Shape 15"/>
          <p:cNvSpPr/>
          <p:nvPr/>
        </p:nvSpPr>
        <p:spPr>
          <a:xfrm>
            <a:off x="566928" y="3703320"/>
            <a:ext cx="50292" cy="1920240"/>
          </a:xfrm>
          <a:prstGeom prst="rect">
            <a:avLst/>
          </a:prstGeom>
          <a:solidFill>
            <a:srgbClr val="15766D"/>
          </a:solidFill>
          <a:ln/>
        </p:spPr>
      </p:sp>
      <p:sp>
        <p:nvSpPr>
          <p:cNvPr id="18" name="Text 16"/>
          <p:cNvSpPr/>
          <p:nvPr/>
        </p:nvSpPr>
        <p:spPr>
          <a:xfrm>
            <a:off x="768096" y="3849624"/>
            <a:ext cx="5026000"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Category filtering</a:t>
            </a:r>
            <a:endParaRPr lang="en-US" sz="1200" dirty="0"/>
          </a:p>
        </p:txBody>
      </p:sp>
      <p:sp>
        <p:nvSpPr>
          <p:cNvPr id="19" name="Text 17"/>
          <p:cNvSpPr/>
          <p:nvPr/>
        </p:nvSpPr>
        <p:spPr>
          <a:xfrm>
            <a:off x="768096" y="4160520"/>
            <a:ext cx="5026000" cy="1335024"/>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Intent-driven filters let the assistant narrow the corpus before ranking.</a:t>
            </a:r>
            <a:endParaRPr lang="en-US" sz="1150" dirty="0"/>
          </a:p>
          <a:p>
            <a:pPr indent="0" marL="0">
              <a:buNone/>
            </a:pP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PronixServices → Services</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CaseStudySearch → Case studies</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PronixInsights → Blogs</a:t>
            </a:r>
            <a:endParaRPr lang="en-US" sz="1150" dirty="0"/>
          </a:p>
        </p:txBody>
      </p:sp>
      <p:sp>
        <p:nvSpPr>
          <p:cNvPr id="20" name="Shape 18"/>
          <p:cNvSpPr/>
          <p:nvPr/>
        </p:nvSpPr>
        <p:spPr>
          <a:xfrm>
            <a:off x="6233008" y="3703320"/>
            <a:ext cx="5391760" cy="1920240"/>
          </a:xfrm>
          <a:prstGeom prst="roundRect">
            <a:avLst>
              <a:gd name="adj" fmla="val 2857"/>
            </a:avLst>
          </a:prstGeom>
          <a:solidFill>
            <a:srgbClr val="EFF6F5"/>
          </a:solidFill>
          <a:ln w="12700">
            <a:solidFill>
              <a:srgbClr val="D8E0DE"/>
            </a:solidFill>
            <a:prstDash val="solid"/>
          </a:ln>
        </p:spPr>
      </p:sp>
      <p:sp>
        <p:nvSpPr>
          <p:cNvPr id="21" name="Shape 19"/>
          <p:cNvSpPr/>
          <p:nvPr/>
        </p:nvSpPr>
        <p:spPr>
          <a:xfrm>
            <a:off x="6233008" y="3703320"/>
            <a:ext cx="50292" cy="1920240"/>
          </a:xfrm>
          <a:prstGeom prst="rect">
            <a:avLst/>
          </a:prstGeom>
          <a:solidFill>
            <a:srgbClr val="C0392B"/>
          </a:solidFill>
          <a:ln/>
        </p:spPr>
      </p:sp>
      <p:sp>
        <p:nvSpPr>
          <p:cNvPr id="22" name="Text 20"/>
          <p:cNvSpPr/>
          <p:nvPr/>
        </p:nvSpPr>
        <p:spPr>
          <a:xfrm>
            <a:off x="6434176" y="3849624"/>
            <a:ext cx="5026000" cy="274320"/>
          </a:xfrm>
          <a:prstGeom prst="rect">
            <a:avLst/>
          </a:prstGeom>
          <a:noFill/>
          <a:ln/>
        </p:spPr>
        <p:txBody>
          <a:bodyPr wrap="square" rtlCol="0" anchor="ctr"/>
          <a:lstStyle/>
          <a:p>
            <a:pPr indent="0" marL="0">
              <a:buNone/>
            </a:pPr>
            <a:r>
              <a:rPr lang="en-US" sz="1250" b="1" dirty="0">
                <a:solidFill>
                  <a:srgbClr val="12312C"/>
                </a:solidFill>
                <a:latin typeface="Segoe UI" pitchFamily="34" charset="0"/>
                <a:ea typeface="Segoe UI" pitchFamily="34" charset="-122"/>
                <a:cs typeface="Segoe UI" pitchFamily="34" charset="-120"/>
              </a:rPr>
              <a:t>Fallback policy</a:t>
            </a:r>
            <a:endParaRPr lang="en-US" sz="1250" dirty="0"/>
          </a:p>
        </p:txBody>
      </p:sp>
      <p:sp>
        <p:nvSpPr>
          <p:cNvPr id="23" name="Text 21"/>
          <p:cNvSpPr/>
          <p:nvPr/>
        </p:nvSpPr>
        <p:spPr>
          <a:xfrm>
            <a:off x="6434176" y="4160520"/>
            <a:ext cx="5026000" cy="1335024"/>
          </a:xfrm>
          <a:prstGeom prst="rect">
            <a:avLst/>
          </a:prstGeom>
          <a:noFill/>
          <a:ln/>
        </p:spPr>
        <p:txBody>
          <a:bodyPr wrap="square" rtlCol="0" anchor="t"/>
          <a:lstStyle/>
          <a:p>
            <a:pPr indent="0" marL="0">
              <a:buNone/>
            </a:pPr>
            <a:r>
              <a:rPr lang="en-US" sz="1200" dirty="0">
                <a:solidFill>
                  <a:srgbClr val="3E4C59"/>
                </a:solidFill>
                <a:latin typeface="Segoe UI" pitchFamily="34" charset="0"/>
                <a:ea typeface="Segoe UI" pitchFamily="34" charset="-122"/>
                <a:cs typeface="Segoe UI" pitchFamily="34" charset="-120"/>
              </a:rPr>
              <a:t>Unmatched intent routes to Search AI; no result offers related options, the Pronix site link, and info@pronix.ai.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INTENTS</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The eight trained intents</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6</a:t>
            </a:r>
            <a:endParaRPr lang="en-US" sz="850" dirty="0"/>
          </a:p>
        </p:txBody>
      </p:sp>
      <p:sp>
        <p:nvSpPr>
          <p:cNvPr id="8" name="Shape 6"/>
          <p:cNvSpPr/>
          <p:nvPr/>
        </p:nvSpPr>
        <p:spPr>
          <a:xfrm>
            <a:off x="566928" y="1554480"/>
            <a:ext cx="5391760" cy="987552"/>
          </a:xfrm>
          <a:prstGeom prst="roundRect">
            <a:avLst>
              <a:gd name="adj" fmla="val 4630"/>
            </a:avLst>
          </a:prstGeom>
          <a:solidFill>
            <a:srgbClr val="FFFFFF"/>
          </a:solidFill>
          <a:ln w="12700">
            <a:solidFill>
              <a:srgbClr val="D8E0DE"/>
            </a:solidFill>
            <a:prstDash val="solid"/>
          </a:ln>
        </p:spPr>
      </p:sp>
      <p:sp>
        <p:nvSpPr>
          <p:cNvPr id="9" name="Shape 7"/>
          <p:cNvSpPr/>
          <p:nvPr/>
        </p:nvSpPr>
        <p:spPr>
          <a:xfrm>
            <a:off x="566928" y="1554480"/>
            <a:ext cx="50292" cy="987552"/>
          </a:xfrm>
          <a:prstGeom prst="rect">
            <a:avLst/>
          </a:prstGeom>
          <a:solidFill>
            <a:srgbClr val="15766D"/>
          </a:solidFill>
          <a:ln/>
        </p:spPr>
      </p:sp>
      <p:sp>
        <p:nvSpPr>
          <p:cNvPr id="10" name="Text 8"/>
          <p:cNvSpPr/>
          <p:nvPr/>
        </p:nvSpPr>
        <p:spPr>
          <a:xfrm>
            <a:off x="749808" y="1645920"/>
            <a:ext cx="5026000" cy="256032"/>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Greeting</a:t>
            </a:r>
            <a:endParaRPr lang="en-US" sz="1300" dirty="0"/>
          </a:p>
        </p:txBody>
      </p:sp>
      <p:sp>
        <p:nvSpPr>
          <p:cNvPr id="11" name="Text 9"/>
          <p:cNvSpPr/>
          <p:nvPr/>
        </p:nvSpPr>
        <p:spPr>
          <a:xfrm>
            <a:off x="749808" y="1920240"/>
            <a:ext cx="5026000" cy="237744"/>
          </a:xfrm>
          <a:prstGeom prst="rect">
            <a:avLst/>
          </a:prstGeom>
          <a:noFill/>
          <a:ln/>
        </p:spPr>
        <p:txBody>
          <a:bodyPr wrap="square" rtlCol="0" anchor="ctr"/>
          <a:lstStyle/>
          <a:p>
            <a:pPr indent="0" marL="0">
              <a:buNone/>
            </a:pPr>
            <a:r>
              <a:rPr lang="en-US" sz="1050" dirty="0">
                <a:solidFill>
                  <a:srgbClr val="3E4C59"/>
                </a:solidFill>
                <a:latin typeface="Segoe UI" pitchFamily="34" charset="0"/>
                <a:ea typeface="Segoe UI" pitchFamily="34" charset="-122"/>
                <a:cs typeface="Segoe UI" pitchFamily="34" charset="-120"/>
              </a:rPr>
              <a:t>Welcome and authentication  ·  8 training utterances</a:t>
            </a:r>
            <a:endParaRPr lang="en-US" sz="1050" dirty="0"/>
          </a:p>
        </p:txBody>
      </p:sp>
      <p:sp>
        <p:nvSpPr>
          <p:cNvPr id="12" name="Text 10"/>
          <p:cNvSpPr/>
          <p:nvPr/>
        </p:nvSpPr>
        <p:spPr>
          <a:xfrm>
            <a:off x="749808" y="2176272"/>
            <a:ext cx="5026000" cy="274320"/>
          </a:xfrm>
          <a:prstGeom prst="rect">
            <a:avLst/>
          </a:prstGeom>
          <a:noFill/>
          <a:ln/>
        </p:spPr>
        <p:txBody>
          <a:bodyPr wrap="square" rtlCol="0" anchor="ctr"/>
          <a:lstStyle/>
          <a:p>
            <a:pPr indent="0" marL="0">
              <a:buNone/>
            </a:pPr>
            <a:r>
              <a:rPr lang="en-US" sz="950" i="1" dirty="0">
                <a:solidFill>
                  <a:srgbClr val="7B8794"/>
                </a:solidFill>
                <a:latin typeface="Segoe UI" pitchFamily="34" charset="0"/>
                <a:ea typeface="Segoe UI" pitchFamily="34" charset="-122"/>
                <a:cs typeface="Segoe UI" pitchFamily="34" charset="-120"/>
              </a:rPr>
              <a:t>“hello”  ·  “hi”  ·  “hey”</a:t>
            </a:r>
            <a:endParaRPr lang="en-US" sz="950" dirty="0"/>
          </a:p>
        </p:txBody>
      </p:sp>
      <p:sp>
        <p:nvSpPr>
          <p:cNvPr id="13" name="Shape 11"/>
          <p:cNvSpPr/>
          <p:nvPr/>
        </p:nvSpPr>
        <p:spPr>
          <a:xfrm>
            <a:off x="6233008" y="1554480"/>
            <a:ext cx="5391760" cy="987552"/>
          </a:xfrm>
          <a:prstGeom prst="roundRect">
            <a:avLst>
              <a:gd name="adj" fmla="val 4630"/>
            </a:avLst>
          </a:prstGeom>
          <a:solidFill>
            <a:srgbClr val="FFFFFF"/>
          </a:solidFill>
          <a:ln w="12700">
            <a:solidFill>
              <a:srgbClr val="D8E0DE"/>
            </a:solidFill>
            <a:prstDash val="solid"/>
          </a:ln>
        </p:spPr>
      </p:sp>
      <p:sp>
        <p:nvSpPr>
          <p:cNvPr id="14" name="Shape 12"/>
          <p:cNvSpPr/>
          <p:nvPr/>
        </p:nvSpPr>
        <p:spPr>
          <a:xfrm>
            <a:off x="6233008" y="1554480"/>
            <a:ext cx="50292" cy="987552"/>
          </a:xfrm>
          <a:prstGeom prst="rect">
            <a:avLst/>
          </a:prstGeom>
          <a:solidFill>
            <a:srgbClr val="15766D"/>
          </a:solidFill>
          <a:ln/>
        </p:spPr>
      </p:sp>
      <p:sp>
        <p:nvSpPr>
          <p:cNvPr id="15" name="Text 13"/>
          <p:cNvSpPr/>
          <p:nvPr/>
        </p:nvSpPr>
        <p:spPr>
          <a:xfrm>
            <a:off x="6415888" y="1645920"/>
            <a:ext cx="5026000" cy="256032"/>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UserLogin</a:t>
            </a:r>
            <a:endParaRPr lang="en-US" sz="1300" dirty="0"/>
          </a:p>
        </p:txBody>
      </p:sp>
      <p:sp>
        <p:nvSpPr>
          <p:cNvPr id="16" name="Text 14"/>
          <p:cNvSpPr/>
          <p:nvPr/>
        </p:nvSpPr>
        <p:spPr>
          <a:xfrm>
            <a:off x="6415888" y="1920240"/>
            <a:ext cx="5026000" cy="237744"/>
          </a:xfrm>
          <a:prstGeom prst="rect">
            <a:avLst/>
          </a:prstGeom>
          <a:noFill/>
          <a:ln/>
        </p:spPr>
        <p:txBody>
          <a:bodyPr wrap="square" rtlCol="0" anchor="ctr"/>
          <a:lstStyle/>
          <a:p>
            <a:pPr indent="0" marL="0">
              <a:buNone/>
            </a:pPr>
            <a:r>
              <a:rPr lang="en-US" sz="1050" dirty="0">
                <a:solidFill>
                  <a:srgbClr val="3E4C59"/>
                </a:solidFill>
                <a:latin typeface="Segoe UI" pitchFamily="34" charset="0"/>
                <a:ea typeface="Segoe UI" pitchFamily="34" charset="-122"/>
                <a:cs typeface="Segoe UI" pitchFamily="34" charset="-120"/>
              </a:rPr>
              <a:t>Login Flow  ·  7 training utterances</a:t>
            </a:r>
            <a:endParaRPr lang="en-US" sz="1050" dirty="0"/>
          </a:p>
        </p:txBody>
      </p:sp>
      <p:sp>
        <p:nvSpPr>
          <p:cNvPr id="17" name="Text 15"/>
          <p:cNvSpPr/>
          <p:nvPr/>
        </p:nvSpPr>
        <p:spPr>
          <a:xfrm>
            <a:off x="6415888" y="2176272"/>
            <a:ext cx="5026000" cy="274320"/>
          </a:xfrm>
          <a:prstGeom prst="rect">
            <a:avLst/>
          </a:prstGeom>
          <a:noFill/>
          <a:ln/>
        </p:spPr>
        <p:txBody>
          <a:bodyPr wrap="square" rtlCol="0" anchor="ctr"/>
          <a:lstStyle/>
          <a:p>
            <a:pPr indent="0" marL="0">
              <a:buNone/>
            </a:pPr>
            <a:r>
              <a:rPr lang="en-US" sz="950" i="1" dirty="0">
                <a:solidFill>
                  <a:srgbClr val="7B8794"/>
                </a:solidFill>
                <a:latin typeface="Segoe UI" pitchFamily="34" charset="0"/>
                <a:ea typeface="Segoe UI" pitchFamily="34" charset="-122"/>
                <a:cs typeface="Segoe UI" pitchFamily="34" charset="-120"/>
              </a:rPr>
              <a:t>“log in”  ·  “login”  ·  “sign in”</a:t>
            </a:r>
            <a:endParaRPr lang="en-US" sz="950" dirty="0"/>
          </a:p>
        </p:txBody>
      </p:sp>
      <p:sp>
        <p:nvSpPr>
          <p:cNvPr id="18" name="Shape 16"/>
          <p:cNvSpPr/>
          <p:nvPr/>
        </p:nvSpPr>
        <p:spPr>
          <a:xfrm>
            <a:off x="566928" y="2670048"/>
            <a:ext cx="5391760" cy="987552"/>
          </a:xfrm>
          <a:prstGeom prst="roundRect">
            <a:avLst>
              <a:gd name="adj" fmla="val 4630"/>
            </a:avLst>
          </a:prstGeom>
          <a:solidFill>
            <a:srgbClr val="FFFFFF"/>
          </a:solidFill>
          <a:ln w="12700">
            <a:solidFill>
              <a:srgbClr val="D8E0DE"/>
            </a:solidFill>
            <a:prstDash val="solid"/>
          </a:ln>
        </p:spPr>
      </p:sp>
      <p:sp>
        <p:nvSpPr>
          <p:cNvPr id="19" name="Shape 17"/>
          <p:cNvSpPr/>
          <p:nvPr/>
        </p:nvSpPr>
        <p:spPr>
          <a:xfrm>
            <a:off x="566928" y="2670048"/>
            <a:ext cx="50292" cy="987552"/>
          </a:xfrm>
          <a:prstGeom prst="rect">
            <a:avLst/>
          </a:prstGeom>
          <a:solidFill>
            <a:srgbClr val="15766D"/>
          </a:solidFill>
          <a:ln/>
        </p:spPr>
      </p:sp>
      <p:sp>
        <p:nvSpPr>
          <p:cNvPr id="20" name="Text 18"/>
          <p:cNvSpPr/>
          <p:nvPr/>
        </p:nvSpPr>
        <p:spPr>
          <a:xfrm>
            <a:off x="749808" y="2761488"/>
            <a:ext cx="5026000" cy="256032"/>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UserRegistration</a:t>
            </a:r>
            <a:endParaRPr lang="en-US" sz="1300" dirty="0"/>
          </a:p>
        </p:txBody>
      </p:sp>
      <p:sp>
        <p:nvSpPr>
          <p:cNvPr id="21" name="Text 19"/>
          <p:cNvSpPr/>
          <p:nvPr/>
        </p:nvSpPr>
        <p:spPr>
          <a:xfrm>
            <a:off x="749808" y="3035808"/>
            <a:ext cx="5026000" cy="237744"/>
          </a:xfrm>
          <a:prstGeom prst="rect">
            <a:avLst/>
          </a:prstGeom>
          <a:noFill/>
          <a:ln/>
        </p:spPr>
        <p:txBody>
          <a:bodyPr wrap="square" rtlCol="0" anchor="ctr"/>
          <a:lstStyle/>
          <a:p>
            <a:pPr indent="0" marL="0">
              <a:buNone/>
            </a:pPr>
            <a:r>
              <a:rPr lang="en-US" sz="1050" dirty="0">
                <a:solidFill>
                  <a:srgbClr val="3E4C59"/>
                </a:solidFill>
                <a:latin typeface="Segoe UI" pitchFamily="34" charset="0"/>
                <a:ea typeface="Segoe UI" pitchFamily="34" charset="-122"/>
                <a:cs typeface="Segoe UI" pitchFamily="34" charset="-120"/>
              </a:rPr>
              <a:t>Signup Flow  ·  8 training utterances</a:t>
            </a:r>
            <a:endParaRPr lang="en-US" sz="1050" dirty="0"/>
          </a:p>
        </p:txBody>
      </p:sp>
      <p:sp>
        <p:nvSpPr>
          <p:cNvPr id="22" name="Text 20"/>
          <p:cNvSpPr/>
          <p:nvPr/>
        </p:nvSpPr>
        <p:spPr>
          <a:xfrm>
            <a:off x="749808" y="3291840"/>
            <a:ext cx="5026000" cy="274320"/>
          </a:xfrm>
          <a:prstGeom prst="rect">
            <a:avLst/>
          </a:prstGeom>
          <a:noFill/>
          <a:ln/>
        </p:spPr>
        <p:txBody>
          <a:bodyPr wrap="square" rtlCol="0" anchor="ctr"/>
          <a:lstStyle/>
          <a:p>
            <a:pPr indent="0" marL="0">
              <a:buNone/>
            </a:pPr>
            <a:r>
              <a:rPr lang="en-US" sz="950" i="1" dirty="0">
                <a:solidFill>
                  <a:srgbClr val="7B8794"/>
                </a:solidFill>
                <a:latin typeface="Segoe UI" pitchFamily="34" charset="0"/>
                <a:ea typeface="Segoe UI" pitchFamily="34" charset="-122"/>
                <a:cs typeface="Segoe UI" pitchFamily="34" charset="-120"/>
              </a:rPr>
              <a:t>“register”  ·  “sign up”  ·  “signup”</a:t>
            </a:r>
            <a:endParaRPr lang="en-US" sz="950" dirty="0"/>
          </a:p>
        </p:txBody>
      </p:sp>
      <p:sp>
        <p:nvSpPr>
          <p:cNvPr id="23" name="Shape 21"/>
          <p:cNvSpPr/>
          <p:nvPr/>
        </p:nvSpPr>
        <p:spPr>
          <a:xfrm>
            <a:off x="6233008" y="2670048"/>
            <a:ext cx="5391760" cy="987552"/>
          </a:xfrm>
          <a:prstGeom prst="roundRect">
            <a:avLst>
              <a:gd name="adj" fmla="val 4630"/>
            </a:avLst>
          </a:prstGeom>
          <a:solidFill>
            <a:srgbClr val="FFFFFF"/>
          </a:solidFill>
          <a:ln w="12700">
            <a:solidFill>
              <a:srgbClr val="D8E0DE"/>
            </a:solidFill>
            <a:prstDash val="solid"/>
          </a:ln>
        </p:spPr>
      </p:sp>
      <p:sp>
        <p:nvSpPr>
          <p:cNvPr id="24" name="Shape 22"/>
          <p:cNvSpPr/>
          <p:nvPr/>
        </p:nvSpPr>
        <p:spPr>
          <a:xfrm>
            <a:off x="6233008" y="2670048"/>
            <a:ext cx="50292" cy="987552"/>
          </a:xfrm>
          <a:prstGeom prst="rect">
            <a:avLst/>
          </a:prstGeom>
          <a:solidFill>
            <a:srgbClr val="15766D"/>
          </a:solidFill>
          <a:ln/>
        </p:spPr>
      </p:sp>
      <p:sp>
        <p:nvSpPr>
          <p:cNvPr id="25" name="Text 23"/>
          <p:cNvSpPr/>
          <p:nvPr/>
        </p:nvSpPr>
        <p:spPr>
          <a:xfrm>
            <a:off x="6415888" y="2761488"/>
            <a:ext cx="5026000" cy="256032"/>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AccountManagement</a:t>
            </a:r>
            <a:endParaRPr lang="en-US" sz="1300" dirty="0"/>
          </a:p>
        </p:txBody>
      </p:sp>
      <p:sp>
        <p:nvSpPr>
          <p:cNvPr id="26" name="Text 24"/>
          <p:cNvSpPr/>
          <p:nvPr/>
        </p:nvSpPr>
        <p:spPr>
          <a:xfrm>
            <a:off x="6415888" y="3035808"/>
            <a:ext cx="5026000" cy="237744"/>
          </a:xfrm>
          <a:prstGeom prst="rect">
            <a:avLst/>
          </a:prstGeom>
          <a:noFill/>
          <a:ln/>
        </p:spPr>
        <p:txBody>
          <a:bodyPr wrap="square" rtlCol="0" anchor="ctr"/>
          <a:lstStyle/>
          <a:p>
            <a:pPr indent="0" marL="0">
              <a:buNone/>
            </a:pPr>
            <a:r>
              <a:rPr lang="en-US" sz="1050" dirty="0">
                <a:solidFill>
                  <a:srgbClr val="3E4C59"/>
                </a:solidFill>
                <a:latin typeface="Segoe UI" pitchFamily="34" charset="0"/>
                <a:ea typeface="Segoe UI" pitchFamily="34" charset="-122"/>
                <a:cs typeface="Segoe UI" pitchFamily="34" charset="-120"/>
              </a:rPr>
              <a:t>Account Options  ·  7 training utterances</a:t>
            </a:r>
            <a:endParaRPr lang="en-US" sz="1050" dirty="0"/>
          </a:p>
        </p:txBody>
      </p:sp>
      <p:sp>
        <p:nvSpPr>
          <p:cNvPr id="27" name="Text 25"/>
          <p:cNvSpPr/>
          <p:nvPr/>
        </p:nvSpPr>
        <p:spPr>
          <a:xfrm>
            <a:off x="6415888" y="3291840"/>
            <a:ext cx="5026000" cy="274320"/>
          </a:xfrm>
          <a:prstGeom prst="rect">
            <a:avLst/>
          </a:prstGeom>
          <a:noFill/>
          <a:ln/>
        </p:spPr>
        <p:txBody>
          <a:bodyPr wrap="square" rtlCol="0" anchor="ctr"/>
          <a:lstStyle/>
          <a:p>
            <a:pPr indent="0" marL="0">
              <a:buNone/>
            </a:pPr>
            <a:r>
              <a:rPr lang="en-US" sz="950" i="1" dirty="0">
                <a:solidFill>
                  <a:srgbClr val="7B8794"/>
                </a:solidFill>
                <a:latin typeface="Segoe UI" pitchFamily="34" charset="0"/>
                <a:ea typeface="Segoe UI" pitchFamily="34" charset="-122"/>
                <a:cs typeface="Segoe UI" pitchFamily="34" charset="-120"/>
              </a:rPr>
              <a:t>“change my account”  ·  “edit my profile”  ·  “update my phone number”</a:t>
            </a:r>
            <a:endParaRPr lang="en-US" sz="950" dirty="0"/>
          </a:p>
        </p:txBody>
      </p:sp>
      <p:sp>
        <p:nvSpPr>
          <p:cNvPr id="28" name="Shape 26"/>
          <p:cNvSpPr/>
          <p:nvPr/>
        </p:nvSpPr>
        <p:spPr>
          <a:xfrm>
            <a:off x="566928" y="3785616"/>
            <a:ext cx="5391760" cy="987552"/>
          </a:xfrm>
          <a:prstGeom prst="roundRect">
            <a:avLst>
              <a:gd name="adj" fmla="val 4630"/>
            </a:avLst>
          </a:prstGeom>
          <a:solidFill>
            <a:srgbClr val="FFFFFF"/>
          </a:solidFill>
          <a:ln w="12700">
            <a:solidFill>
              <a:srgbClr val="D8E0DE"/>
            </a:solidFill>
            <a:prstDash val="solid"/>
          </a:ln>
        </p:spPr>
      </p:sp>
      <p:sp>
        <p:nvSpPr>
          <p:cNvPr id="29" name="Shape 27"/>
          <p:cNvSpPr/>
          <p:nvPr/>
        </p:nvSpPr>
        <p:spPr>
          <a:xfrm>
            <a:off x="566928" y="3785616"/>
            <a:ext cx="50292" cy="987552"/>
          </a:xfrm>
          <a:prstGeom prst="rect">
            <a:avLst/>
          </a:prstGeom>
          <a:solidFill>
            <a:srgbClr val="B7791F"/>
          </a:solidFill>
          <a:ln/>
        </p:spPr>
      </p:sp>
      <p:sp>
        <p:nvSpPr>
          <p:cNvPr id="30" name="Text 28"/>
          <p:cNvSpPr/>
          <p:nvPr/>
        </p:nvSpPr>
        <p:spPr>
          <a:xfrm>
            <a:off x="749808" y="3877056"/>
            <a:ext cx="5026000" cy="256032"/>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PronixServices</a:t>
            </a:r>
            <a:endParaRPr lang="en-US" sz="1300" dirty="0"/>
          </a:p>
        </p:txBody>
      </p:sp>
      <p:sp>
        <p:nvSpPr>
          <p:cNvPr id="31" name="Text 29"/>
          <p:cNvSpPr/>
          <p:nvPr/>
        </p:nvSpPr>
        <p:spPr>
          <a:xfrm>
            <a:off x="749808" y="4151376"/>
            <a:ext cx="5026000" cy="237744"/>
          </a:xfrm>
          <a:prstGeom prst="rect">
            <a:avLst/>
          </a:prstGeom>
          <a:noFill/>
          <a:ln/>
        </p:spPr>
        <p:txBody>
          <a:bodyPr wrap="square" rtlCol="0" anchor="ctr"/>
          <a:lstStyle/>
          <a:p>
            <a:pPr indent="0" marL="0">
              <a:buNone/>
            </a:pPr>
            <a:r>
              <a:rPr lang="en-US" sz="1050" dirty="0">
                <a:solidFill>
                  <a:srgbClr val="3E4C59"/>
                </a:solidFill>
                <a:latin typeface="Segoe UI" pitchFamily="34" charset="0"/>
                <a:ea typeface="Segoe UI" pitchFamily="34" charset="-122"/>
                <a:cs typeface="Segoe UI" pitchFamily="34" charset="-120"/>
              </a:rPr>
              <a:t>Service Discovery  ·  7 training utterances</a:t>
            </a:r>
            <a:endParaRPr lang="en-US" sz="1050" dirty="0"/>
          </a:p>
        </p:txBody>
      </p:sp>
      <p:sp>
        <p:nvSpPr>
          <p:cNvPr id="32" name="Text 30"/>
          <p:cNvSpPr/>
          <p:nvPr/>
        </p:nvSpPr>
        <p:spPr>
          <a:xfrm>
            <a:off x="749808" y="4407408"/>
            <a:ext cx="5026000" cy="274320"/>
          </a:xfrm>
          <a:prstGeom prst="rect">
            <a:avLst/>
          </a:prstGeom>
          <a:noFill/>
          <a:ln/>
        </p:spPr>
        <p:txBody>
          <a:bodyPr wrap="square" rtlCol="0" anchor="ctr"/>
          <a:lstStyle/>
          <a:p>
            <a:pPr indent="0" marL="0">
              <a:buNone/>
            </a:pPr>
            <a:r>
              <a:rPr lang="en-US" sz="950" i="1" dirty="0">
                <a:solidFill>
                  <a:srgbClr val="7B8794"/>
                </a:solidFill>
                <a:latin typeface="Segoe UI" pitchFamily="34" charset="0"/>
                <a:ea typeface="Segoe UI" pitchFamily="34" charset="-122"/>
                <a:cs typeface="Segoe UI" pitchFamily="34" charset="-120"/>
              </a:rPr>
              <a:t>“what services do you offer”  ·  “tell me about Pronix services”  ·  “contact center AI”</a:t>
            </a:r>
            <a:endParaRPr lang="en-US" sz="950" dirty="0"/>
          </a:p>
        </p:txBody>
      </p:sp>
      <p:sp>
        <p:nvSpPr>
          <p:cNvPr id="33" name="Shape 31"/>
          <p:cNvSpPr/>
          <p:nvPr/>
        </p:nvSpPr>
        <p:spPr>
          <a:xfrm>
            <a:off x="6233008" y="3785616"/>
            <a:ext cx="5391760" cy="987552"/>
          </a:xfrm>
          <a:prstGeom prst="roundRect">
            <a:avLst>
              <a:gd name="adj" fmla="val 4630"/>
            </a:avLst>
          </a:prstGeom>
          <a:solidFill>
            <a:srgbClr val="FFFFFF"/>
          </a:solidFill>
          <a:ln w="12700">
            <a:solidFill>
              <a:srgbClr val="D8E0DE"/>
            </a:solidFill>
            <a:prstDash val="solid"/>
          </a:ln>
        </p:spPr>
      </p:sp>
      <p:sp>
        <p:nvSpPr>
          <p:cNvPr id="34" name="Shape 32"/>
          <p:cNvSpPr/>
          <p:nvPr/>
        </p:nvSpPr>
        <p:spPr>
          <a:xfrm>
            <a:off x="6233008" y="3785616"/>
            <a:ext cx="50292" cy="987552"/>
          </a:xfrm>
          <a:prstGeom prst="rect">
            <a:avLst/>
          </a:prstGeom>
          <a:solidFill>
            <a:srgbClr val="B7791F"/>
          </a:solidFill>
          <a:ln/>
        </p:spPr>
      </p:sp>
      <p:sp>
        <p:nvSpPr>
          <p:cNvPr id="35" name="Text 33"/>
          <p:cNvSpPr/>
          <p:nvPr/>
        </p:nvSpPr>
        <p:spPr>
          <a:xfrm>
            <a:off x="6415888" y="3877056"/>
            <a:ext cx="5026000" cy="256032"/>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CaseStudySearch</a:t>
            </a:r>
            <a:endParaRPr lang="en-US" sz="1300" dirty="0"/>
          </a:p>
        </p:txBody>
      </p:sp>
      <p:sp>
        <p:nvSpPr>
          <p:cNvPr id="36" name="Text 34"/>
          <p:cNvSpPr/>
          <p:nvPr/>
        </p:nvSpPr>
        <p:spPr>
          <a:xfrm>
            <a:off x="6415888" y="4151376"/>
            <a:ext cx="5026000" cy="237744"/>
          </a:xfrm>
          <a:prstGeom prst="rect">
            <a:avLst/>
          </a:prstGeom>
          <a:noFill/>
          <a:ln/>
        </p:spPr>
        <p:txBody>
          <a:bodyPr wrap="square" rtlCol="0" anchor="ctr"/>
          <a:lstStyle/>
          <a:p>
            <a:pPr indent="0" marL="0">
              <a:buNone/>
            </a:pPr>
            <a:r>
              <a:rPr lang="en-US" sz="1050" dirty="0">
                <a:solidFill>
                  <a:srgbClr val="3E4C59"/>
                </a:solidFill>
                <a:latin typeface="Segoe UI" pitchFamily="34" charset="0"/>
                <a:ea typeface="Segoe UI" pitchFamily="34" charset="-122"/>
                <a:cs typeface="Segoe UI" pitchFamily="34" charset="-120"/>
              </a:rPr>
              <a:t>Case Study Search  ·  7 training utterances</a:t>
            </a:r>
            <a:endParaRPr lang="en-US" sz="1050" dirty="0"/>
          </a:p>
        </p:txBody>
      </p:sp>
      <p:sp>
        <p:nvSpPr>
          <p:cNvPr id="37" name="Text 35"/>
          <p:cNvSpPr/>
          <p:nvPr/>
        </p:nvSpPr>
        <p:spPr>
          <a:xfrm>
            <a:off x="6415888" y="4407408"/>
            <a:ext cx="5026000" cy="274320"/>
          </a:xfrm>
          <a:prstGeom prst="rect">
            <a:avLst/>
          </a:prstGeom>
          <a:noFill/>
          <a:ln/>
        </p:spPr>
        <p:txBody>
          <a:bodyPr wrap="square" rtlCol="0" anchor="ctr"/>
          <a:lstStyle/>
          <a:p>
            <a:pPr indent="0" marL="0">
              <a:buNone/>
            </a:pPr>
            <a:r>
              <a:rPr lang="en-US" sz="950" i="1" dirty="0">
                <a:solidFill>
                  <a:srgbClr val="7B8794"/>
                </a:solidFill>
                <a:latin typeface="Segoe UI" pitchFamily="34" charset="0"/>
                <a:ea typeface="Segoe UI" pitchFamily="34" charset="-122"/>
                <a:cs typeface="Segoe UI" pitchFamily="34" charset="-120"/>
              </a:rPr>
              <a:t>“show a case study”  ·  “do you have a Kore.ai example”  ·  “customer success story”</a:t>
            </a:r>
            <a:endParaRPr lang="en-US" sz="950" dirty="0"/>
          </a:p>
        </p:txBody>
      </p:sp>
      <p:sp>
        <p:nvSpPr>
          <p:cNvPr id="38" name="Shape 36"/>
          <p:cNvSpPr/>
          <p:nvPr/>
        </p:nvSpPr>
        <p:spPr>
          <a:xfrm>
            <a:off x="566928" y="4901184"/>
            <a:ext cx="5391760" cy="987552"/>
          </a:xfrm>
          <a:prstGeom prst="roundRect">
            <a:avLst>
              <a:gd name="adj" fmla="val 4630"/>
            </a:avLst>
          </a:prstGeom>
          <a:solidFill>
            <a:srgbClr val="FFFFFF"/>
          </a:solidFill>
          <a:ln w="12700">
            <a:solidFill>
              <a:srgbClr val="D8E0DE"/>
            </a:solidFill>
            <a:prstDash val="solid"/>
          </a:ln>
        </p:spPr>
      </p:sp>
      <p:sp>
        <p:nvSpPr>
          <p:cNvPr id="39" name="Shape 37"/>
          <p:cNvSpPr/>
          <p:nvPr/>
        </p:nvSpPr>
        <p:spPr>
          <a:xfrm>
            <a:off x="566928" y="4901184"/>
            <a:ext cx="50292" cy="987552"/>
          </a:xfrm>
          <a:prstGeom prst="rect">
            <a:avLst/>
          </a:prstGeom>
          <a:solidFill>
            <a:srgbClr val="B7791F"/>
          </a:solidFill>
          <a:ln/>
        </p:spPr>
      </p:sp>
      <p:sp>
        <p:nvSpPr>
          <p:cNvPr id="40" name="Text 38"/>
          <p:cNvSpPr/>
          <p:nvPr/>
        </p:nvSpPr>
        <p:spPr>
          <a:xfrm>
            <a:off x="749808" y="4992624"/>
            <a:ext cx="5026000" cy="256032"/>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PronixInsights</a:t>
            </a:r>
            <a:endParaRPr lang="en-US" sz="1300" dirty="0"/>
          </a:p>
        </p:txBody>
      </p:sp>
      <p:sp>
        <p:nvSpPr>
          <p:cNvPr id="41" name="Text 39"/>
          <p:cNvSpPr/>
          <p:nvPr/>
        </p:nvSpPr>
        <p:spPr>
          <a:xfrm>
            <a:off x="749808" y="5266944"/>
            <a:ext cx="5026000" cy="237744"/>
          </a:xfrm>
          <a:prstGeom prst="rect">
            <a:avLst/>
          </a:prstGeom>
          <a:noFill/>
          <a:ln/>
        </p:spPr>
        <p:txBody>
          <a:bodyPr wrap="square" rtlCol="0" anchor="ctr"/>
          <a:lstStyle/>
          <a:p>
            <a:pPr indent="0" marL="0">
              <a:buNone/>
            </a:pPr>
            <a:r>
              <a:rPr lang="en-US" sz="1050" dirty="0">
                <a:solidFill>
                  <a:srgbClr val="3E4C59"/>
                </a:solidFill>
                <a:latin typeface="Segoe UI" pitchFamily="34" charset="0"/>
                <a:ea typeface="Segoe UI" pitchFamily="34" charset="-122"/>
                <a:cs typeface="Segoe UI" pitchFamily="34" charset="-120"/>
              </a:rPr>
              <a:t>Insights Search  ·  6 training utterances</a:t>
            </a:r>
            <a:endParaRPr lang="en-US" sz="1050" dirty="0"/>
          </a:p>
        </p:txBody>
      </p:sp>
      <p:sp>
        <p:nvSpPr>
          <p:cNvPr id="42" name="Text 40"/>
          <p:cNvSpPr/>
          <p:nvPr/>
        </p:nvSpPr>
        <p:spPr>
          <a:xfrm>
            <a:off x="749808" y="5522976"/>
            <a:ext cx="5026000" cy="274320"/>
          </a:xfrm>
          <a:prstGeom prst="rect">
            <a:avLst/>
          </a:prstGeom>
          <a:noFill/>
          <a:ln/>
        </p:spPr>
        <p:txBody>
          <a:bodyPr wrap="square" rtlCol="0" anchor="ctr"/>
          <a:lstStyle/>
          <a:p>
            <a:pPr indent="0" marL="0">
              <a:buNone/>
            </a:pPr>
            <a:r>
              <a:rPr lang="en-US" sz="950" i="1" dirty="0">
                <a:solidFill>
                  <a:srgbClr val="7B8794"/>
                </a:solidFill>
                <a:latin typeface="Segoe UI" pitchFamily="34" charset="0"/>
                <a:ea typeface="Segoe UI" pitchFamily="34" charset="-122"/>
                <a:cs typeface="Segoe UI" pitchFamily="34" charset="-120"/>
              </a:rPr>
              <a:t>“show me a blog”  ·  “enterprise AI guide”  ·  “how do I move from pilot to production”</a:t>
            </a:r>
            <a:endParaRPr lang="en-US" sz="950" dirty="0"/>
          </a:p>
        </p:txBody>
      </p:sp>
      <p:sp>
        <p:nvSpPr>
          <p:cNvPr id="43" name="Shape 41"/>
          <p:cNvSpPr/>
          <p:nvPr/>
        </p:nvSpPr>
        <p:spPr>
          <a:xfrm>
            <a:off x="6233008" y="4901184"/>
            <a:ext cx="5391760" cy="987552"/>
          </a:xfrm>
          <a:prstGeom prst="roundRect">
            <a:avLst>
              <a:gd name="adj" fmla="val 4630"/>
            </a:avLst>
          </a:prstGeom>
          <a:solidFill>
            <a:srgbClr val="FFFFFF"/>
          </a:solidFill>
          <a:ln w="12700">
            <a:solidFill>
              <a:srgbClr val="D8E0DE"/>
            </a:solidFill>
            <a:prstDash val="solid"/>
          </a:ln>
        </p:spPr>
      </p:sp>
      <p:sp>
        <p:nvSpPr>
          <p:cNvPr id="44" name="Shape 42"/>
          <p:cNvSpPr/>
          <p:nvPr/>
        </p:nvSpPr>
        <p:spPr>
          <a:xfrm>
            <a:off x="6233008" y="4901184"/>
            <a:ext cx="50292" cy="987552"/>
          </a:xfrm>
          <a:prstGeom prst="rect">
            <a:avLst/>
          </a:prstGeom>
          <a:solidFill>
            <a:srgbClr val="B7791F"/>
          </a:solidFill>
          <a:ln/>
        </p:spPr>
      </p:sp>
      <p:sp>
        <p:nvSpPr>
          <p:cNvPr id="45" name="Text 43"/>
          <p:cNvSpPr/>
          <p:nvPr/>
        </p:nvSpPr>
        <p:spPr>
          <a:xfrm>
            <a:off x="6415888" y="4992624"/>
            <a:ext cx="5026000" cy="256032"/>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ContactSupport</a:t>
            </a:r>
            <a:endParaRPr lang="en-US" sz="1300" dirty="0"/>
          </a:p>
        </p:txBody>
      </p:sp>
      <p:sp>
        <p:nvSpPr>
          <p:cNvPr id="46" name="Text 44"/>
          <p:cNvSpPr/>
          <p:nvPr/>
        </p:nvSpPr>
        <p:spPr>
          <a:xfrm>
            <a:off x="6415888" y="5266944"/>
            <a:ext cx="5026000" cy="237744"/>
          </a:xfrm>
          <a:prstGeom prst="rect">
            <a:avLst/>
          </a:prstGeom>
          <a:noFill/>
          <a:ln/>
        </p:spPr>
        <p:txBody>
          <a:bodyPr wrap="square" rtlCol="0" anchor="ctr"/>
          <a:lstStyle/>
          <a:p>
            <a:pPr indent="0" marL="0">
              <a:buNone/>
            </a:pPr>
            <a:r>
              <a:rPr lang="en-US" sz="1050" dirty="0">
                <a:solidFill>
                  <a:srgbClr val="3E4C59"/>
                </a:solidFill>
                <a:latin typeface="Segoe UI" pitchFamily="34" charset="0"/>
                <a:ea typeface="Segoe UI" pitchFamily="34" charset="-122"/>
                <a:cs typeface="Segoe UI" pitchFamily="34" charset="-120"/>
              </a:rPr>
              <a:t>Contact and Handoff  ·  6 training utterances</a:t>
            </a:r>
            <a:endParaRPr lang="en-US" sz="1050" dirty="0"/>
          </a:p>
        </p:txBody>
      </p:sp>
      <p:sp>
        <p:nvSpPr>
          <p:cNvPr id="47" name="Text 45"/>
          <p:cNvSpPr/>
          <p:nvPr/>
        </p:nvSpPr>
        <p:spPr>
          <a:xfrm>
            <a:off x="6415888" y="5522976"/>
            <a:ext cx="5026000" cy="274320"/>
          </a:xfrm>
          <a:prstGeom prst="rect">
            <a:avLst/>
          </a:prstGeom>
          <a:noFill/>
          <a:ln/>
        </p:spPr>
        <p:txBody>
          <a:bodyPr wrap="square" rtlCol="0" anchor="ctr"/>
          <a:lstStyle/>
          <a:p>
            <a:pPr indent="0" marL="0">
              <a:buNone/>
            </a:pPr>
            <a:r>
              <a:rPr lang="en-US" sz="950" i="1" dirty="0">
                <a:solidFill>
                  <a:srgbClr val="7B8794"/>
                </a:solidFill>
                <a:latin typeface="Segoe UI" pitchFamily="34" charset="0"/>
                <a:ea typeface="Segoe UI" pitchFamily="34" charset="-122"/>
                <a:cs typeface="Segoe UI" pitchFamily="34" charset="-120"/>
              </a:rPr>
              <a:t>“contact Pronix”  ·  “email support”  ·  “talk to a person”</a:t>
            </a:r>
            <a:endParaRPr lang="en-US" sz="950" dirty="0"/>
          </a:p>
        </p:txBody>
      </p:sp>
      <p:sp>
        <p:nvSpPr>
          <p:cNvPr id="48" name="Text 46"/>
          <p:cNvSpPr/>
          <p:nvPr/>
        </p:nvSpPr>
        <p:spPr>
          <a:xfrm>
            <a:off x="566928" y="6080760"/>
            <a:ext cx="11057839" cy="274320"/>
          </a:xfrm>
          <a:prstGeom prst="rect">
            <a:avLst/>
          </a:prstGeom>
          <a:noFill/>
          <a:ln/>
        </p:spPr>
        <p:txBody>
          <a:bodyPr wrap="square" rtlCol="0" anchor="ctr"/>
          <a:lstStyle/>
          <a:p>
            <a:pPr indent="0" marL="0">
              <a:buNone/>
            </a:pPr>
            <a:r>
              <a:rPr lang="en-US" sz="1050" dirty="0">
                <a:solidFill>
                  <a:srgbClr val="7B8794"/>
                </a:solidFill>
                <a:latin typeface="Segoe UI" pitchFamily="34" charset="0"/>
                <a:ea typeface="Segoe UI" pitchFamily="34" charset="-122"/>
                <a:cs typeface="Segoe UI" pitchFamily="34" charset="-120"/>
              </a:rPr>
              <a:t>Teal = transactional dialog tasks.  Amber = search-driven discovery tasks.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FLOWS</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Login: registered, unknown, and failure</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7</a:t>
            </a:r>
            <a:endParaRPr lang="en-US" sz="850" dirty="0"/>
          </a:p>
        </p:txBody>
      </p:sp>
      <p:sp>
        <p:nvSpPr>
          <p:cNvPr id="8" name="Shape 6"/>
          <p:cNvSpPr/>
          <p:nvPr/>
        </p:nvSpPr>
        <p:spPr>
          <a:xfrm>
            <a:off x="566928" y="1600200"/>
            <a:ext cx="1847088" cy="1170432"/>
          </a:xfrm>
          <a:prstGeom prst="roundRect">
            <a:avLst>
              <a:gd name="adj" fmla="val 4688"/>
            </a:avLst>
          </a:prstGeom>
          <a:solidFill>
            <a:srgbClr val="EFF6F5"/>
          </a:solidFill>
          <a:ln w="12700">
            <a:solidFill>
              <a:srgbClr val="D8E0DE"/>
            </a:solidFill>
            <a:prstDash val="solid"/>
          </a:ln>
        </p:spPr>
      </p:sp>
      <p:sp>
        <p:nvSpPr>
          <p:cNvPr id="9" name="Shape 7"/>
          <p:cNvSpPr/>
          <p:nvPr/>
        </p:nvSpPr>
        <p:spPr>
          <a:xfrm>
            <a:off x="566928" y="1600200"/>
            <a:ext cx="50292" cy="1170432"/>
          </a:xfrm>
          <a:prstGeom prst="rect">
            <a:avLst/>
          </a:prstGeom>
          <a:solidFill>
            <a:srgbClr val="15766D"/>
          </a:solidFill>
          <a:ln/>
        </p:spPr>
      </p:sp>
      <p:sp>
        <p:nvSpPr>
          <p:cNvPr id="10" name="Text 8"/>
          <p:cNvSpPr/>
          <p:nvPr/>
        </p:nvSpPr>
        <p:spPr>
          <a:xfrm>
            <a:off x="768096" y="1746504"/>
            <a:ext cx="1481328" cy="274320"/>
          </a:xfrm>
          <a:prstGeom prst="rect">
            <a:avLst/>
          </a:prstGeom>
          <a:noFill/>
          <a:ln/>
        </p:spPr>
        <p:txBody>
          <a:bodyPr wrap="square" rtlCol="0" anchor="ctr"/>
          <a:lstStyle/>
          <a:p>
            <a:pPr indent="0" marL="0">
              <a:buNone/>
            </a:pPr>
            <a:r>
              <a:rPr lang="en-US" sz="1100" b="1" dirty="0">
                <a:solidFill>
                  <a:srgbClr val="12312C"/>
                </a:solidFill>
                <a:latin typeface="Segoe UI" pitchFamily="34" charset="0"/>
                <a:ea typeface="Segoe UI" pitchFamily="34" charset="-122"/>
                <a:cs typeface="Segoe UI" pitchFamily="34" charset="-120"/>
              </a:rPr>
              <a:t>Trigger</a:t>
            </a:r>
            <a:endParaRPr lang="en-US" sz="1100" dirty="0"/>
          </a:p>
        </p:txBody>
      </p:sp>
      <p:sp>
        <p:nvSpPr>
          <p:cNvPr id="11" name="Text 9"/>
          <p:cNvSpPr/>
          <p:nvPr/>
        </p:nvSpPr>
        <p:spPr>
          <a:xfrm>
            <a:off x="768096" y="2057400"/>
            <a:ext cx="1481328" cy="585216"/>
          </a:xfrm>
          <a:prstGeom prst="rect">
            <a:avLst/>
          </a:prstGeom>
          <a:noFill/>
          <a:ln/>
        </p:spPr>
        <p:txBody>
          <a:bodyPr wrap="square" rtlCol="0" anchor="t"/>
          <a:lstStyle/>
          <a:p>
            <a:pPr indent="0" marL="0">
              <a:buNone/>
            </a:pPr>
            <a:r>
              <a:rPr lang="en-US" sz="1050" dirty="0">
                <a:solidFill>
                  <a:srgbClr val="3E4C59"/>
                </a:solidFill>
                <a:latin typeface="Segoe UI" pitchFamily="34" charset="0"/>
                <a:ea typeface="Segoe UI" pitchFamily="34" charset="-122"/>
                <a:cs typeface="Segoe UI" pitchFamily="34" charset="-120"/>
              </a:rPr>
              <a:t>UserLogin intent</a:t>
            </a:r>
            <a:endParaRPr lang="en-US" sz="1050" dirty="0"/>
          </a:p>
          <a:p>
            <a:pPr indent="0" marL="0">
              <a:buNone/>
            </a:pPr>
            <a:r>
              <a:rPr lang="en-US" sz="1050" dirty="0">
                <a:solidFill>
                  <a:srgbClr val="3E4C59"/>
                </a:solidFill>
                <a:latin typeface="Segoe UI" pitchFamily="34" charset="0"/>
                <a:ea typeface="Segoe UI" pitchFamily="34" charset="-122"/>
                <a:cs typeface="Segoe UI" pitchFamily="34" charset="-120"/>
              </a:rPr>
              <a:t>“log in”, “sign in”</a:t>
            </a:r>
            <a:endParaRPr lang="en-US" sz="1050" dirty="0"/>
          </a:p>
        </p:txBody>
      </p:sp>
      <p:sp>
        <p:nvSpPr>
          <p:cNvPr id="12" name="Shape 10"/>
          <p:cNvSpPr/>
          <p:nvPr/>
        </p:nvSpPr>
        <p:spPr>
          <a:xfrm>
            <a:off x="2441448" y="2066544"/>
            <a:ext cx="182880" cy="219456"/>
          </a:xfrm>
          <a:prstGeom prst="rightArrow">
            <a:avLst/>
          </a:prstGeom>
          <a:solidFill>
            <a:srgbClr val="D8E0DE"/>
          </a:solidFill>
          <a:ln/>
        </p:spPr>
      </p:sp>
      <p:sp>
        <p:nvSpPr>
          <p:cNvPr id="13" name="Shape 11"/>
          <p:cNvSpPr/>
          <p:nvPr/>
        </p:nvSpPr>
        <p:spPr>
          <a:xfrm>
            <a:off x="2651760" y="1600200"/>
            <a:ext cx="1847088" cy="1170432"/>
          </a:xfrm>
          <a:prstGeom prst="roundRect">
            <a:avLst>
              <a:gd name="adj" fmla="val 4688"/>
            </a:avLst>
          </a:prstGeom>
          <a:solidFill>
            <a:srgbClr val="EFF6F5"/>
          </a:solidFill>
          <a:ln w="12700">
            <a:solidFill>
              <a:srgbClr val="D8E0DE"/>
            </a:solidFill>
            <a:prstDash val="solid"/>
          </a:ln>
        </p:spPr>
      </p:sp>
      <p:sp>
        <p:nvSpPr>
          <p:cNvPr id="14" name="Shape 12"/>
          <p:cNvSpPr/>
          <p:nvPr/>
        </p:nvSpPr>
        <p:spPr>
          <a:xfrm>
            <a:off x="2651760" y="1600200"/>
            <a:ext cx="50292" cy="1170432"/>
          </a:xfrm>
          <a:prstGeom prst="rect">
            <a:avLst/>
          </a:prstGeom>
          <a:solidFill>
            <a:srgbClr val="15766D"/>
          </a:solidFill>
          <a:ln/>
        </p:spPr>
      </p:sp>
      <p:sp>
        <p:nvSpPr>
          <p:cNvPr id="15" name="Text 13"/>
          <p:cNvSpPr/>
          <p:nvPr/>
        </p:nvSpPr>
        <p:spPr>
          <a:xfrm>
            <a:off x="2852928" y="1746504"/>
            <a:ext cx="1481328" cy="274320"/>
          </a:xfrm>
          <a:prstGeom prst="rect">
            <a:avLst/>
          </a:prstGeom>
          <a:noFill/>
          <a:ln/>
        </p:spPr>
        <p:txBody>
          <a:bodyPr wrap="square" rtlCol="0" anchor="ctr"/>
          <a:lstStyle/>
          <a:p>
            <a:pPr indent="0" marL="0">
              <a:buNone/>
            </a:pPr>
            <a:r>
              <a:rPr lang="en-US" sz="1100" b="1" dirty="0">
                <a:solidFill>
                  <a:srgbClr val="12312C"/>
                </a:solidFill>
                <a:latin typeface="Segoe UI" pitchFamily="34" charset="0"/>
                <a:ea typeface="Segoe UI" pitchFamily="34" charset="-122"/>
                <a:cs typeface="Segoe UI" pitchFamily="34" charset="-120"/>
              </a:rPr>
              <a:t>Capture email</a:t>
            </a:r>
            <a:endParaRPr lang="en-US" sz="1100" dirty="0"/>
          </a:p>
        </p:txBody>
      </p:sp>
      <p:sp>
        <p:nvSpPr>
          <p:cNvPr id="16" name="Text 14"/>
          <p:cNvSpPr/>
          <p:nvPr/>
        </p:nvSpPr>
        <p:spPr>
          <a:xfrm>
            <a:off x="2852928" y="2057400"/>
            <a:ext cx="1481328" cy="585216"/>
          </a:xfrm>
          <a:prstGeom prst="rect">
            <a:avLst/>
          </a:prstGeom>
          <a:noFill/>
          <a:ln/>
        </p:spPr>
        <p:txBody>
          <a:bodyPr wrap="square" rtlCol="0" anchor="t"/>
          <a:lstStyle/>
          <a:p>
            <a:pPr indent="0" marL="0">
              <a:buNone/>
            </a:pPr>
            <a:r>
              <a:rPr lang="en-US" sz="1050" dirty="0">
                <a:solidFill>
                  <a:srgbClr val="3E4C59"/>
                </a:solidFill>
                <a:latin typeface="Segoe UI" pitchFamily="34" charset="0"/>
                <a:ea typeface="Segoe UI" pitchFamily="34" charset="-122"/>
                <a:cs typeface="Segoe UI" pitchFamily="34" charset="-120"/>
              </a:rPr>
              <a:t>Email entity</a:t>
            </a:r>
            <a:endParaRPr lang="en-US" sz="1050" dirty="0"/>
          </a:p>
          <a:p>
            <a:pPr indent="0" marL="0">
              <a:buNone/>
            </a:pPr>
            <a:r>
              <a:rPr lang="en-US" sz="1050" dirty="0">
                <a:solidFill>
                  <a:srgbClr val="3E4C59"/>
                </a:solidFill>
                <a:latin typeface="Segoe UI" pitchFamily="34" charset="0"/>
                <a:ea typeface="Segoe UI" pitchFamily="34" charset="-122"/>
                <a:cs typeface="Segoe UI" pitchFamily="34" charset="-120"/>
              </a:rPr>
              <a:t>format validated</a:t>
            </a:r>
            <a:endParaRPr lang="en-US" sz="1050" dirty="0"/>
          </a:p>
        </p:txBody>
      </p:sp>
      <p:sp>
        <p:nvSpPr>
          <p:cNvPr id="17" name="Shape 15"/>
          <p:cNvSpPr/>
          <p:nvPr/>
        </p:nvSpPr>
        <p:spPr>
          <a:xfrm>
            <a:off x="4526280" y="2066544"/>
            <a:ext cx="182880" cy="219456"/>
          </a:xfrm>
          <a:prstGeom prst="rightArrow">
            <a:avLst/>
          </a:prstGeom>
          <a:solidFill>
            <a:srgbClr val="D8E0DE"/>
          </a:solidFill>
          <a:ln/>
        </p:spPr>
      </p:sp>
      <p:sp>
        <p:nvSpPr>
          <p:cNvPr id="18" name="Shape 16"/>
          <p:cNvSpPr/>
          <p:nvPr/>
        </p:nvSpPr>
        <p:spPr>
          <a:xfrm>
            <a:off x="4736592" y="1600200"/>
            <a:ext cx="1847088" cy="1170432"/>
          </a:xfrm>
          <a:prstGeom prst="roundRect">
            <a:avLst>
              <a:gd name="adj" fmla="val 4688"/>
            </a:avLst>
          </a:prstGeom>
          <a:solidFill>
            <a:srgbClr val="EFF6F5"/>
          </a:solidFill>
          <a:ln w="12700">
            <a:solidFill>
              <a:srgbClr val="D8E0DE"/>
            </a:solidFill>
            <a:prstDash val="solid"/>
          </a:ln>
        </p:spPr>
      </p:sp>
      <p:sp>
        <p:nvSpPr>
          <p:cNvPr id="19" name="Shape 17"/>
          <p:cNvSpPr/>
          <p:nvPr/>
        </p:nvSpPr>
        <p:spPr>
          <a:xfrm>
            <a:off x="4736592" y="1600200"/>
            <a:ext cx="50292" cy="1170432"/>
          </a:xfrm>
          <a:prstGeom prst="rect">
            <a:avLst/>
          </a:prstGeom>
          <a:solidFill>
            <a:srgbClr val="15766D"/>
          </a:solidFill>
          <a:ln/>
        </p:spPr>
      </p:sp>
      <p:sp>
        <p:nvSpPr>
          <p:cNvPr id="20" name="Text 18"/>
          <p:cNvSpPr/>
          <p:nvPr/>
        </p:nvSpPr>
        <p:spPr>
          <a:xfrm>
            <a:off x="4937760" y="1746504"/>
            <a:ext cx="1481328" cy="274320"/>
          </a:xfrm>
          <a:prstGeom prst="rect">
            <a:avLst/>
          </a:prstGeom>
          <a:noFill/>
          <a:ln/>
        </p:spPr>
        <p:txBody>
          <a:bodyPr wrap="square" rtlCol="0" anchor="ctr"/>
          <a:lstStyle/>
          <a:p>
            <a:pPr indent="0" marL="0">
              <a:buNone/>
            </a:pPr>
            <a:r>
              <a:rPr lang="en-US" sz="1100" b="1" dirty="0">
                <a:solidFill>
                  <a:srgbClr val="12312C"/>
                </a:solidFill>
                <a:latin typeface="Segoe UI" pitchFamily="34" charset="0"/>
                <a:ea typeface="Segoe UI" pitchFamily="34" charset="-122"/>
                <a:cs typeface="Segoe UI" pitchFamily="34" charset="-120"/>
              </a:rPr>
              <a:t>GET /users</a:t>
            </a:r>
            <a:endParaRPr lang="en-US" sz="1100" dirty="0"/>
          </a:p>
        </p:txBody>
      </p:sp>
      <p:sp>
        <p:nvSpPr>
          <p:cNvPr id="21" name="Text 19"/>
          <p:cNvSpPr/>
          <p:nvPr/>
        </p:nvSpPr>
        <p:spPr>
          <a:xfrm>
            <a:off x="4937760" y="2057400"/>
            <a:ext cx="1481328" cy="585216"/>
          </a:xfrm>
          <a:prstGeom prst="rect">
            <a:avLst/>
          </a:prstGeom>
          <a:noFill/>
          <a:ln/>
        </p:spPr>
        <p:txBody>
          <a:bodyPr wrap="square" rtlCol="0" anchor="t"/>
          <a:lstStyle/>
          <a:p>
            <a:pPr indent="0" marL="0">
              <a:buNone/>
            </a:pPr>
            <a:r>
              <a:rPr lang="en-US" sz="1050" dirty="0">
                <a:solidFill>
                  <a:srgbClr val="3E4C59"/>
                </a:solidFill>
                <a:latin typeface="Segoe UI" pitchFamily="34" charset="0"/>
                <a:ea typeface="Segoe UI" pitchFamily="34" charset="-122"/>
                <a:cs typeface="Segoe UI" pitchFamily="34" charset="-120"/>
              </a:rPr>
              <a:t>findUserByEmail</a:t>
            </a:r>
            <a:endParaRPr lang="en-US" sz="1050" dirty="0"/>
          </a:p>
          <a:p>
            <a:pPr indent="0" marL="0">
              <a:buNone/>
            </a:pPr>
            <a:r>
              <a:rPr lang="en-US" sz="1050" dirty="0">
                <a:solidFill>
                  <a:srgbClr val="3E4C59"/>
                </a:solidFill>
                <a:latin typeface="Segoe UI" pitchFamily="34" charset="0"/>
                <a:ea typeface="Segoe UI" pitchFamily="34" charset="-122"/>
                <a:cs typeface="Segoe UI" pitchFamily="34" charset="-120"/>
              </a:rPr>
              <a:t>REST call</a:t>
            </a:r>
            <a:endParaRPr lang="en-US" sz="1050" dirty="0"/>
          </a:p>
        </p:txBody>
      </p:sp>
      <p:sp>
        <p:nvSpPr>
          <p:cNvPr id="22" name="Shape 20"/>
          <p:cNvSpPr/>
          <p:nvPr/>
        </p:nvSpPr>
        <p:spPr>
          <a:xfrm>
            <a:off x="6611112" y="2066544"/>
            <a:ext cx="182880" cy="219456"/>
          </a:xfrm>
          <a:prstGeom prst="rightArrow">
            <a:avLst/>
          </a:prstGeom>
          <a:solidFill>
            <a:srgbClr val="D8E0DE"/>
          </a:solidFill>
          <a:ln/>
        </p:spPr>
      </p:sp>
      <p:sp>
        <p:nvSpPr>
          <p:cNvPr id="23" name="Shape 21"/>
          <p:cNvSpPr/>
          <p:nvPr/>
        </p:nvSpPr>
        <p:spPr>
          <a:xfrm>
            <a:off x="6821424" y="1600200"/>
            <a:ext cx="1847088" cy="1170432"/>
          </a:xfrm>
          <a:prstGeom prst="roundRect">
            <a:avLst>
              <a:gd name="adj" fmla="val 4688"/>
            </a:avLst>
          </a:prstGeom>
          <a:solidFill>
            <a:srgbClr val="EFF6F5"/>
          </a:solidFill>
          <a:ln w="12700">
            <a:solidFill>
              <a:srgbClr val="D8E0DE"/>
            </a:solidFill>
            <a:prstDash val="solid"/>
          </a:ln>
        </p:spPr>
      </p:sp>
      <p:sp>
        <p:nvSpPr>
          <p:cNvPr id="24" name="Shape 22"/>
          <p:cNvSpPr/>
          <p:nvPr/>
        </p:nvSpPr>
        <p:spPr>
          <a:xfrm>
            <a:off x="6821424" y="1600200"/>
            <a:ext cx="50292" cy="1170432"/>
          </a:xfrm>
          <a:prstGeom prst="rect">
            <a:avLst/>
          </a:prstGeom>
          <a:solidFill>
            <a:srgbClr val="15766D"/>
          </a:solidFill>
          <a:ln/>
        </p:spPr>
      </p:sp>
      <p:sp>
        <p:nvSpPr>
          <p:cNvPr id="25" name="Text 23"/>
          <p:cNvSpPr/>
          <p:nvPr/>
        </p:nvSpPr>
        <p:spPr>
          <a:xfrm>
            <a:off x="7022592" y="1746504"/>
            <a:ext cx="1481328" cy="274320"/>
          </a:xfrm>
          <a:prstGeom prst="rect">
            <a:avLst/>
          </a:prstGeom>
          <a:noFill/>
          <a:ln/>
        </p:spPr>
        <p:txBody>
          <a:bodyPr wrap="square" rtlCol="0" anchor="ctr"/>
          <a:lstStyle/>
          <a:p>
            <a:pPr indent="0" marL="0">
              <a:buNone/>
            </a:pPr>
            <a:r>
              <a:rPr lang="en-US" sz="1100" b="1" dirty="0">
                <a:solidFill>
                  <a:srgbClr val="12312C"/>
                </a:solidFill>
                <a:latin typeface="Segoe UI" pitchFamily="34" charset="0"/>
                <a:ea typeface="Segoe UI" pitchFamily="34" charset="-122"/>
                <a:cs typeface="Segoe UI" pitchFamily="34" charset="-120"/>
              </a:rPr>
              <a:t>Branch</a:t>
            </a:r>
            <a:endParaRPr lang="en-US" sz="1100" dirty="0"/>
          </a:p>
        </p:txBody>
      </p:sp>
      <p:sp>
        <p:nvSpPr>
          <p:cNvPr id="26" name="Text 24"/>
          <p:cNvSpPr/>
          <p:nvPr/>
        </p:nvSpPr>
        <p:spPr>
          <a:xfrm>
            <a:off x="7022592" y="2057400"/>
            <a:ext cx="1481328" cy="585216"/>
          </a:xfrm>
          <a:prstGeom prst="rect">
            <a:avLst/>
          </a:prstGeom>
          <a:noFill/>
          <a:ln/>
        </p:spPr>
        <p:txBody>
          <a:bodyPr wrap="square" rtlCol="0" anchor="t"/>
          <a:lstStyle/>
          <a:p>
            <a:pPr indent="0" marL="0">
              <a:buNone/>
            </a:pPr>
            <a:r>
              <a:rPr lang="en-US" sz="1050" dirty="0">
                <a:solidFill>
                  <a:srgbClr val="3E4C59"/>
                </a:solidFill>
                <a:latin typeface="Segoe UI" pitchFamily="34" charset="0"/>
                <a:ea typeface="Segoe UI" pitchFamily="34" charset="-122"/>
                <a:cs typeface="Segoe UI" pitchFamily="34" charset="-120"/>
              </a:rPr>
              <a:t>response length</a:t>
            </a:r>
            <a:endParaRPr lang="en-US" sz="1050" dirty="0"/>
          </a:p>
          <a:p>
            <a:pPr indent="0" marL="0">
              <a:buNone/>
            </a:pPr>
            <a:r>
              <a:rPr lang="en-US" sz="1050" dirty="0">
                <a:solidFill>
                  <a:srgbClr val="3E4C59"/>
                </a:solidFill>
                <a:latin typeface="Segoe UI" pitchFamily="34" charset="0"/>
                <a:ea typeface="Segoe UI" pitchFamily="34" charset="-122"/>
                <a:cs typeface="Segoe UI" pitchFamily="34" charset="-120"/>
              </a:rPr>
              <a:t>&gt; 0 or == 0</a:t>
            </a:r>
            <a:endParaRPr lang="en-US" sz="1050" dirty="0"/>
          </a:p>
        </p:txBody>
      </p:sp>
      <p:sp>
        <p:nvSpPr>
          <p:cNvPr id="27" name="Shape 25"/>
          <p:cNvSpPr/>
          <p:nvPr/>
        </p:nvSpPr>
        <p:spPr>
          <a:xfrm>
            <a:off x="566928" y="3063240"/>
            <a:ext cx="5394960" cy="1371600"/>
          </a:xfrm>
          <a:prstGeom prst="roundRect">
            <a:avLst>
              <a:gd name="adj" fmla="val 4000"/>
            </a:avLst>
          </a:prstGeom>
          <a:solidFill>
            <a:srgbClr val="EFF6F5"/>
          </a:solidFill>
          <a:ln w="12700">
            <a:solidFill>
              <a:srgbClr val="D8E0DE"/>
            </a:solidFill>
            <a:prstDash val="solid"/>
          </a:ln>
        </p:spPr>
      </p:sp>
      <p:sp>
        <p:nvSpPr>
          <p:cNvPr id="28" name="Shape 26"/>
          <p:cNvSpPr/>
          <p:nvPr/>
        </p:nvSpPr>
        <p:spPr>
          <a:xfrm>
            <a:off x="566928" y="3063240"/>
            <a:ext cx="50292" cy="1371600"/>
          </a:xfrm>
          <a:prstGeom prst="rect">
            <a:avLst/>
          </a:prstGeom>
          <a:solidFill>
            <a:srgbClr val="1E7A46"/>
          </a:solidFill>
          <a:ln/>
        </p:spPr>
      </p:sp>
      <p:sp>
        <p:nvSpPr>
          <p:cNvPr id="29" name="Text 27"/>
          <p:cNvSpPr/>
          <p:nvPr/>
        </p:nvSpPr>
        <p:spPr>
          <a:xfrm>
            <a:off x="768096" y="3209544"/>
            <a:ext cx="5029200"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Registered → success</a:t>
            </a:r>
            <a:endParaRPr lang="en-US" sz="1300" dirty="0"/>
          </a:p>
        </p:txBody>
      </p:sp>
      <p:sp>
        <p:nvSpPr>
          <p:cNvPr id="30" name="Text 28"/>
          <p:cNvSpPr/>
          <p:nvPr/>
        </p:nvSpPr>
        <p:spPr>
          <a:xfrm>
            <a:off x="768096" y="3520440"/>
            <a:ext cx="5029200" cy="786384"/>
          </a:xfrm>
          <a:prstGeom prst="rect">
            <a:avLst/>
          </a:prstGeom>
          <a:noFill/>
          <a:ln/>
        </p:spPr>
        <p:txBody>
          <a:bodyPr wrap="square" rtlCol="0" anchor="t"/>
          <a:lstStyle/>
          <a:p>
            <a:pPr indent="0" marL="0">
              <a:buNone/>
            </a:pPr>
            <a:r>
              <a:rPr lang="en-US" sz="1250" dirty="0">
                <a:solidFill>
                  <a:srgbClr val="3E4C59"/>
                </a:solidFill>
                <a:latin typeface="Segoe UI" pitchFamily="34" charset="0"/>
                <a:ea typeface="Segoe UI" pitchFamily="34" charset="-122"/>
                <a:cs typeface="Segoe UI" pitchFamily="34" charset="-120"/>
              </a:rPr>
              <a:t>“Hello {{username}}! You have successfully logged in.”</a:t>
            </a:r>
            <a:endParaRPr lang="en-US" sz="1250" dirty="0"/>
          </a:p>
          <a:p>
            <a:pPr indent="0" marL="0">
              <a:buNone/>
            </a:pPr>
            <a:r>
              <a:rPr lang="en-US" sz="1250" dirty="0">
                <a:solidFill>
                  <a:srgbClr val="3E4C59"/>
                </a:solidFill>
                <a:latin typeface="Segoe UI" pitchFamily="34" charset="0"/>
                <a:ea typeface="Segoe UI" pitchFamily="34" charset="-122"/>
                <a:cs typeface="Segoe UI" pitchFamily="34" charset="-120"/>
              </a:rPr>
              <a:t>then routes into Account Options</a:t>
            </a:r>
            <a:endParaRPr lang="en-US" sz="1250" dirty="0"/>
          </a:p>
        </p:txBody>
      </p:sp>
      <p:sp>
        <p:nvSpPr>
          <p:cNvPr id="31" name="Shape 29"/>
          <p:cNvSpPr/>
          <p:nvPr/>
        </p:nvSpPr>
        <p:spPr>
          <a:xfrm>
            <a:off x="6236208" y="3063240"/>
            <a:ext cx="5394960" cy="1371600"/>
          </a:xfrm>
          <a:prstGeom prst="roundRect">
            <a:avLst>
              <a:gd name="adj" fmla="val 4000"/>
            </a:avLst>
          </a:prstGeom>
          <a:solidFill>
            <a:srgbClr val="EFF6F5"/>
          </a:solidFill>
          <a:ln w="12700">
            <a:solidFill>
              <a:srgbClr val="D8E0DE"/>
            </a:solidFill>
            <a:prstDash val="solid"/>
          </a:ln>
        </p:spPr>
      </p:sp>
      <p:sp>
        <p:nvSpPr>
          <p:cNvPr id="32" name="Shape 30"/>
          <p:cNvSpPr/>
          <p:nvPr/>
        </p:nvSpPr>
        <p:spPr>
          <a:xfrm>
            <a:off x="6236208" y="3063240"/>
            <a:ext cx="50292" cy="1371600"/>
          </a:xfrm>
          <a:prstGeom prst="rect">
            <a:avLst/>
          </a:prstGeom>
          <a:solidFill>
            <a:srgbClr val="B7791F"/>
          </a:solidFill>
          <a:ln/>
        </p:spPr>
      </p:sp>
      <p:sp>
        <p:nvSpPr>
          <p:cNvPr id="33" name="Text 31"/>
          <p:cNvSpPr/>
          <p:nvPr/>
        </p:nvSpPr>
        <p:spPr>
          <a:xfrm>
            <a:off x="6437376" y="3209544"/>
            <a:ext cx="5029200"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Not registered → offer to register</a:t>
            </a:r>
            <a:endParaRPr lang="en-US" sz="1300" dirty="0"/>
          </a:p>
        </p:txBody>
      </p:sp>
      <p:sp>
        <p:nvSpPr>
          <p:cNvPr id="34" name="Text 32"/>
          <p:cNvSpPr/>
          <p:nvPr/>
        </p:nvSpPr>
        <p:spPr>
          <a:xfrm>
            <a:off x="6437376" y="3520440"/>
            <a:ext cx="5029200" cy="786384"/>
          </a:xfrm>
          <a:prstGeom prst="rect">
            <a:avLst/>
          </a:prstGeom>
          <a:noFill/>
          <a:ln/>
        </p:spPr>
        <p:txBody>
          <a:bodyPr wrap="square" rtlCol="0" anchor="t"/>
          <a:lstStyle/>
          <a:p>
            <a:pPr indent="0" marL="0">
              <a:buNone/>
            </a:pPr>
            <a:r>
              <a:rPr lang="en-US" sz="1250" dirty="0">
                <a:solidFill>
                  <a:srgbClr val="3E4C59"/>
                </a:solidFill>
                <a:latin typeface="Segoe UI" pitchFamily="34" charset="0"/>
                <a:ea typeface="Segoe UI" pitchFamily="34" charset="-122"/>
                <a:cs typeface="Segoe UI" pitchFamily="34" charset="-120"/>
              </a:rPr>
              <a:t>“This email is not registered. Would you like to create a new account?”</a:t>
            </a:r>
            <a:endParaRPr lang="en-US" sz="1250" dirty="0"/>
          </a:p>
          <a:p>
            <a:pPr indent="0" marL="0">
              <a:buNone/>
            </a:pPr>
            <a:r>
              <a:rPr lang="en-US" sz="1250" dirty="0">
                <a:solidFill>
                  <a:srgbClr val="3E4C59"/>
                </a:solidFill>
                <a:latin typeface="Segoe UI" pitchFamily="34" charset="0"/>
                <a:ea typeface="Segoe UI" pitchFamily="34" charset="-122"/>
                <a:cs typeface="Segoe UI" pitchFamily="34" charset="-120"/>
              </a:rPr>
              <a:t>Choice: Register Now | Retry | Cancel</a:t>
            </a:r>
            <a:endParaRPr lang="en-US" sz="1250" dirty="0"/>
          </a:p>
        </p:txBody>
      </p:sp>
      <p:sp>
        <p:nvSpPr>
          <p:cNvPr id="35" name="Shape 33"/>
          <p:cNvSpPr/>
          <p:nvPr/>
        </p:nvSpPr>
        <p:spPr>
          <a:xfrm>
            <a:off x="566928" y="4617720"/>
            <a:ext cx="11057839" cy="1371600"/>
          </a:xfrm>
          <a:prstGeom prst="roundRect">
            <a:avLst>
              <a:gd name="adj" fmla="val 4000"/>
            </a:avLst>
          </a:prstGeom>
          <a:solidFill>
            <a:srgbClr val="EFF6F5"/>
          </a:solidFill>
          <a:ln w="12700">
            <a:solidFill>
              <a:srgbClr val="D8E0DE"/>
            </a:solidFill>
            <a:prstDash val="solid"/>
          </a:ln>
        </p:spPr>
      </p:sp>
      <p:sp>
        <p:nvSpPr>
          <p:cNvPr id="36" name="Shape 34"/>
          <p:cNvSpPr/>
          <p:nvPr/>
        </p:nvSpPr>
        <p:spPr>
          <a:xfrm>
            <a:off x="566928" y="4617720"/>
            <a:ext cx="50292" cy="1371600"/>
          </a:xfrm>
          <a:prstGeom prst="rect">
            <a:avLst/>
          </a:prstGeom>
          <a:solidFill>
            <a:srgbClr val="C0392B"/>
          </a:solidFill>
          <a:ln/>
        </p:spPr>
      </p:sp>
      <p:sp>
        <p:nvSpPr>
          <p:cNvPr id="37" name="Text 35"/>
          <p:cNvSpPr/>
          <p:nvPr/>
        </p:nvSpPr>
        <p:spPr>
          <a:xfrm>
            <a:off x="768096" y="4764024"/>
            <a:ext cx="10692079"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Service failure is handled explicitly</a:t>
            </a:r>
            <a:endParaRPr lang="en-US" sz="1300" dirty="0"/>
          </a:p>
        </p:txBody>
      </p:sp>
      <p:sp>
        <p:nvSpPr>
          <p:cNvPr id="38" name="Text 36"/>
          <p:cNvSpPr/>
          <p:nvPr/>
        </p:nvSpPr>
        <p:spPr>
          <a:xfrm>
            <a:off x="768096" y="5074920"/>
            <a:ext cx="10692079" cy="786384"/>
          </a:xfrm>
          <a:prstGeom prst="rect">
            <a:avLst/>
          </a:prstGeom>
          <a:noFill/>
          <a:ln/>
        </p:spPr>
        <p:txBody>
          <a:bodyPr wrap="square" rtlCol="0" anchor="t"/>
          <a:lstStyle/>
          <a:p>
            <a:pPr indent="0" marL="0">
              <a:buNone/>
            </a:pPr>
            <a:r>
              <a:rPr lang="en-US" sz="1250" dirty="0">
                <a:solidFill>
                  <a:srgbClr val="3E4C59"/>
                </a:solidFill>
                <a:latin typeface="Segoe UI" pitchFamily="34" charset="0"/>
                <a:ea typeface="Segoe UI" pitchFamily="34" charset="-122"/>
                <a:cs typeface="Segoe UI" pitchFamily="34" charset="-120"/>
              </a:rPr>
              <a:t>If the REST call errors or times out, the session takes the error branch and replies “Something went wrong. Please try again later.” rather than reporting a failed login as an unregistered email — the two cases are semantically very different and conflating them misleads the user.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FLOWS</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Registration and account management</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8</a:t>
            </a:r>
            <a:endParaRPr lang="en-US" sz="850" dirty="0"/>
          </a:p>
        </p:txBody>
      </p:sp>
      <p:sp>
        <p:nvSpPr>
          <p:cNvPr id="8" name="Shape 6"/>
          <p:cNvSpPr/>
          <p:nvPr/>
        </p:nvSpPr>
        <p:spPr>
          <a:xfrm>
            <a:off x="566928" y="1572768"/>
            <a:ext cx="5394960" cy="1481328"/>
          </a:xfrm>
          <a:prstGeom prst="roundRect">
            <a:avLst>
              <a:gd name="adj" fmla="val 3704"/>
            </a:avLst>
          </a:prstGeom>
          <a:solidFill>
            <a:srgbClr val="EFF6F5"/>
          </a:solidFill>
          <a:ln w="12700">
            <a:solidFill>
              <a:srgbClr val="D8E0DE"/>
            </a:solidFill>
            <a:prstDash val="solid"/>
          </a:ln>
        </p:spPr>
      </p:sp>
      <p:sp>
        <p:nvSpPr>
          <p:cNvPr id="9" name="Shape 7"/>
          <p:cNvSpPr/>
          <p:nvPr/>
        </p:nvSpPr>
        <p:spPr>
          <a:xfrm>
            <a:off x="566928" y="1572768"/>
            <a:ext cx="50292" cy="1481328"/>
          </a:xfrm>
          <a:prstGeom prst="rect">
            <a:avLst/>
          </a:prstGeom>
          <a:solidFill>
            <a:srgbClr val="15766D"/>
          </a:solidFill>
          <a:ln/>
        </p:spPr>
      </p:sp>
      <p:sp>
        <p:nvSpPr>
          <p:cNvPr id="10" name="Text 8"/>
          <p:cNvSpPr/>
          <p:nvPr/>
        </p:nvSpPr>
        <p:spPr>
          <a:xfrm>
            <a:off x="768096" y="1719072"/>
            <a:ext cx="5029200"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Captured and validated entities</a:t>
            </a:r>
            <a:endParaRPr lang="en-US" sz="1200" dirty="0"/>
          </a:p>
        </p:txBody>
      </p:sp>
      <p:sp>
        <p:nvSpPr>
          <p:cNvPr id="11" name="Text 9"/>
          <p:cNvSpPr/>
          <p:nvPr/>
        </p:nvSpPr>
        <p:spPr>
          <a:xfrm>
            <a:off x="768096" y="2029968"/>
            <a:ext cx="5029200" cy="896112"/>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Username — Text, Minimum 2 characters</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Email — Email, Valid email format required</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Phone — PhoneNumber, Valid phone pattern required</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Password — Password, Minimum 8 characters</a:t>
            </a:r>
            <a:endParaRPr lang="en-US" sz="1150" dirty="0"/>
          </a:p>
        </p:txBody>
      </p:sp>
      <p:sp>
        <p:nvSpPr>
          <p:cNvPr id="12" name="Shape 10"/>
          <p:cNvSpPr/>
          <p:nvPr/>
        </p:nvSpPr>
        <p:spPr>
          <a:xfrm>
            <a:off x="6236208" y="1572768"/>
            <a:ext cx="5394960" cy="1481328"/>
          </a:xfrm>
          <a:prstGeom prst="roundRect">
            <a:avLst>
              <a:gd name="adj" fmla="val 3704"/>
            </a:avLst>
          </a:prstGeom>
          <a:solidFill>
            <a:srgbClr val="EFF6F5"/>
          </a:solidFill>
          <a:ln w="12700">
            <a:solidFill>
              <a:srgbClr val="D8E0DE"/>
            </a:solidFill>
            <a:prstDash val="solid"/>
          </a:ln>
        </p:spPr>
      </p:sp>
      <p:sp>
        <p:nvSpPr>
          <p:cNvPr id="13" name="Shape 11"/>
          <p:cNvSpPr/>
          <p:nvPr/>
        </p:nvSpPr>
        <p:spPr>
          <a:xfrm>
            <a:off x="6236208" y="1572768"/>
            <a:ext cx="50292" cy="1481328"/>
          </a:xfrm>
          <a:prstGeom prst="rect">
            <a:avLst/>
          </a:prstGeom>
          <a:solidFill>
            <a:srgbClr val="15766D"/>
          </a:solidFill>
          <a:ln/>
        </p:spPr>
      </p:sp>
      <p:sp>
        <p:nvSpPr>
          <p:cNvPr id="14" name="Text 12"/>
          <p:cNvSpPr/>
          <p:nvPr/>
        </p:nvSpPr>
        <p:spPr>
          <a:xfrm>
            <a:off x="6437376" y="1719072"/>
            <a:ext cx="5029200"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Persistence</a:t>
            </a:r>
            <a:endParaRPr lang="en-US" sz="1200" dirty="0"/>
          </a:p>
        </p:txBody>
      </p:sp>
      <p:sp>
        <p:nvSpPr>
          <p:cNvPr id="15" name="Text 13"/>
          <p:cNvSpPr/>
          <p:nvPr/>
        </p:nvSpPr>
        <p:spPr>
          <a:xfrm>
            <a:off x="6437376" y="2029968"/>
            <a:ext cx="5029200" cy="896112"/>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POST {{usersResourceUrl}}</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Body: username, email, phone, password</a:t>
            </a:r>
            <a:endParaRPr lang="en-US" sz="1150" dirty="0"/>
          </a:p>
          <a:p>
            <a:pPr indent="0" marL="0">
              <a:buNone/>
            </a:pP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Verified live against the MockAPI users resource.</a:t>
            </a:r>
            <a:endParaRPr lang="en-US" sz="1150" dirty="0"/>
          </a:p>
        </p:txBody>
      </p:sp>
      <p:sp>
        <p:nvSpPr>
          <p:cNvPr id="16" name="Shape 14"/>
          <p:cNvSpPr/>
          <p:nvPr/>
        </p:nvSpPr>
        <p:spPr>
          <a:xfrm>
            <a:off x="566928" y="3246120"/>
            <a:ext cx="5394960" cy="1371600"/>
          </a:xfrm>
          <a:prstGeom prst="roundRect">
            <a:avLst>
              <a:gd name="adj" fmla="val 4000"/>
            </a:avLst>
          </a:prstGeom>
          <a:solidFill>
            <a:srgbClr val="EFF6F5"/>
          </a:solidFill>
          <a:ln w="12700">
            <a:solidFill>
              <a:srgbClr val="D8E0DE"/>
            </a:solidFill>
            <a:prstDash val="solid"/>
          </a:ln>
        </p:spPr>
      </p:sp>
      <p:sp>
        <p:nvSpPr>
          <p:cNvPr id="17" name="Shape 15"/>
          <p:cNvSpPr/>
          <p:nvPr/>
        </p:nvSpPr>
        <p:spPr>
          <a:xfrm>
            <a:off x="566928" y="3246120"/>
            <a:ext cx="50292" cy="1371600"/>
          </a:xfrm>
          <a:prstGeom prst="rect">
            <a:avLst/>
          </a:prstGeom>
          <a:solidFill>
            <a:srgbClr val="1E7A46"/>
          </a:solidFill>
          <a:ln/>
        </p:spPr>
      </p:sp>
      <p:sp>
        <p:nvSpPr>
          <p:cNvPr id="18" name="Text 16"/>
          <p:cNvSpPr/>
          <p:nvPr/>
        </p:nvSpPr>
        <p:spPr>
          <a:xfrm>
            <a:off x="768096" y="3392424"/>
            <a:ext cx="5029200" cy="274320"/>
          </a:xfrm>
          <a:prstGeom prst="rect">
            <a:avLst/>
          </a:prstGeom>
          <a:noFill/>
          <a:ln/>
        </p:spPr>
        <p:txBody>
          <a:bodyPr wrap="square" rtlCol="0" anchor="ctr"/>
          <a:lstStyle/>
          <a:p>
            <a:pPr indent="0" marL="0">
              <a:buNone/>
            </a:pPr>
            <a:r>
              <a:rPr lang="en-US" sz="1300" b="1" dirty="0">
                <a:solidFill>
                  <a:srgbClr val="12312C"/>
                </a:solidFill>
                <a:latin typeface="Segoe UI" pitchFamily="34" charset="0"/>
                <a:ea typeface="Segoe UI" pitchFamily="34" charset="-122"/>
                <a:cs typeface="Segoe UI" pitchFamily="34" charset="-120"/>
              </a:rPr>
              <a:t>Success branch</a:t>
            </a:r>
            <a:endParaRPr lang="en-US" sz="1300" dirty="0"/>
          </a:p>
        </p:txBody>
      </p:sp>
      <p:sp>
        <p:nvSpPr>
          <p:cNvPr id="19" name="Text 17"/>
          <p:cNvSpPr/>
          <p:nvPr/>
        </p:nvSpPr>
        <p:spPr>
          <a:xfrm>
            <a:off x="768096" y="3703320"/>
            <a:ext cx="5029200" cy="786384"/>
          </a:xfrm>
          <a:prstGeom prst="rect">
            <a:avLst/>
          </a:prstGeom>
          <a:noFill/>
          <a:ln/>
        </p:spPr>
        <p:txBody>
          <a:bodyPr wrap="square" rtlCol="0" anchor="t"/>
          <a:lstStyle/>
          <a:p>
            <a:pPr indent="0" marL="0">
              <a:buNone/>
            </a:pPr>
            <a:r>
              <a:rPr lang="en-US" sz="1250" dirty="0">
                <a:solidFill>
                  <a:srgbClr val="3E4C59"/>
                </a:solidFill>
                <a:latin typeface="Segoe UI" pitchFamily="34" charset="0"/>
                <a:ea typeface="Segoe UI" pitchFamily="34" charset="-122"/>
                <a:cs typeface="Segoe UI" pitchFamily="34" charset="-120"/>
              </a:rPr>
              <a:t>“Registration successful! Would you like to continue?”</a:t>
            </a:r>
            <a:endParaRPr lang="en-US" sz="1250" dirty="0"/>
          </a:p>
          <a:p>
            <a:pPr indent="0" marL="0">
              <a:buNone/>
            </a:pPr>
            <a:r>
              <a:rPr lang="en-US" sz="1250" dirty="0">
                <a:solidFill>
                  <a:srgbClr val="3E4C59"/>
                </a:solidFill>
                <a:latin typeface="Segoe UI" pitchFamily="34" charset="0"/>
                <a:ea typeface="Segoe UI" pitchFamily="34" charset="-122"/>
                <a:cs typeface="Segoe UI" pitchFamily="34" charset="-120"/>
              </a:rPr>
              <a:t>Yes → Account Options   ·   No → “Thank you! Have a great day.”</a:t>
            </a:r>
            <a:endParaRPr lang="en-US" sz="1250" dirty="0"/>
          </a:p>
        </p:txBody>
      </p:sp>
      <p:sp>
        <p:nvSpPr>
          <p:cNvPr id="20" name="Shape 18"/>
          <p:cNvSpPr/>
          <p:nvPr/>
        </p:nvSpPr>
        <p:spPr>
          <a:xfrm>
            <a:off x="6236208" y="3246120"/>
            <a:ext cx="5394960" cy="1371600"/>
          </a:xfrm>
          <a:prstGeom prst="roundRect">
            <a:avLst>
              <a:gd name="adj" fmla="val 4000"/>
            </a:avLst>
          </a:prstGeom>
          <a:solidFill>
            <a:srgbClr val="EFF6F5"/>
          </a:solidFill>
          <a:ln w="12700">
            <a:solidFill>
              <a:srgbClr val="D8E0DE"/>
            </a:solidFill>
            <a:prstDash val="solid"/>
          </a:ln>
        </p:spPr>
      </p:sp>
      <p:sp>
        <p:nvSpPr>
          <p:cNvPr id="21" name="Shape 19"/>
          <p:cNvSpPr/>
          <p:nvPr/>
        </p:nvSpPr>
        <p:spPr>
          <a:xfrm>
            <a:off x="6236208" y="3246120"/>
            <a:ext cx="50292" cy="1371600"/>
          </a:xfrm>
          <a:prstGeom prst="rect">
            <a:avLst/>
          </a:prstGeom>
          <a:solidFill>
            <a:srgbClr val="15766D"/>
          </a:solidFill>
          <a:ln/>
        </p:spPr>
      </p:sp>
      <p:sp>
        <p:nvSpPr>
          <p:cNvPr id="22" name="Text 20"/>
          <p:cNvSpPr/>
          <p:nvPr/>
        </p:nvSpPr>
        <p:spPr>
          <a:xfrm>
            <a:off x="6437376" y="3392424"/>
            <a:ext cx="5029200" cy="274320"/>
          </a:xfrm>
          <a:prstGeom prst="rect">
            <a:avLst/>
          </a:prstGeom>
          <a:noFill/>
          <a:ln/>
        </p:spPr>
        <p:txBody>
          <a:bodyPr wrap="square" rtlCol="0" anchor="ctr"/>
          <a:lstStyle/>
          <a:p>
            <a:pPr indent="0" marL="0">
              <a:buNone/>
            </a:pPr>
            <a:r>
              <a:rPr lang="en-US" sz="1150" b="1" dirty="0">
                <a:solidFill>
                  <a:srgbClr val="12312C"/>
                </a:solidFill>
                <a:latin typeface="Segoe UI" pitchFamily="34" charset="0"/>
                <a:ea typeface="Segoe UI" pitchFamily="34" charset="-122"/>
                <a:cs typeface="Segoe UI" pitchFamily="34" charset="-120"/>
              </a:rPr>
              <a:t>Account management</a:t>
            </a:r>
            <a:endParaRPr lang="en-US" sz="1150" dirty="0"/>
          </a:p>
        </p:txBody>
      </p:sp>
      <p:sp>
        <p:nvSpPr>
          <p:cNvPr id="23" name="Text 21"/>
          <p:cNvSpPr/>
          <p:nvPr/>
        </p:nvSpPr>
        <p:spPr>
          <a:xfrm>
            <a:off x="6437376" y="3703320"/>
            <a:ext cx="5029200" cy="786384"/>
          </a:xfrm>
          <a:prstGeom prst="rect">
            <a:avLst/>
          </a:prstGeom>
          <a:noFill/>
          <a:ln/>
        </p:spPr>
        <p:txBody>
          <a:bodyPr wrap="square" rtlCol="0" anchor="t"/>
          <a:lstStyle/>
          <a:p>
            <a:pPr indent="0" marL="0">
              <a:buNone/>
            </a:pPr>
            <a:r>
              <a:rPr lang="en-US" sz="1100" dirty="0">
                <a:solidFill>
                  <a:srgbClr val="3E4C59"/>
                </a:solidFill>
                <a:latin typeface="Segoe UI" pitchFamily="34" charset="0"/>
                <a:ea typeface="Segoe UI" pitchFamily="34" charset="-122"/>
                <a:cs typeface="Segoe UI" pitchFamily="34" charset="-120"/>
              </a:rPr>
              <a:t>Choice: Modify Account | Delete Account</a:t>
            </a:r>
            <a:endParaRPr lang="en-US" sz="1100" dirty="0"/>
          </a:p>
          <a:p>
            <a:pPr indent="0" marL="0">
              <a:buNone/>
            </a:pPr>
            <a:r>
              <a:rPr lang="en-US" sz="1100" dirty="0">
                <a:solidFill>
                  <a:srgbClr val="3E4C59"/>
                </a:solidFill>
                <a:latin typeface="Segoe UI" pitchFamily="34" charset="0"/>
                <a:ea typeface="Segoe UI" pitchFamily="34" charset="-122"/>
                <a:cs typeface="Segoe UI" pitchFamily="34" charset="-120"/>
              </a:rPr>
              <a:t>PUT {{usersResourceUrl}}/{{recordId}}</a:t>
            </a:r>
            <a:endParaRPr lang="en-US" sz="1100" dirty="0"/>
          </a:p>
          <a:p>
            <a:pPr indent="0" marL="0">
              <a:buNone/>
            </a:pPr>
            <a:r>
              <a:rPr lang="en-US" sz="1100" dirty="0">
                <a:solidFill>
                  <a:srgbClr val="3E4C59"/>
                </a:solidFill>
                <a:latin typeface="Segoe UI" pitchFamily="34" charset="0"/>
                <a:ea typeface="Segoe UI" pitchFamily="34" charset="-122"/>
                <a:cs typeface="Segoe UI" pitchFamily="34" charset="-120"/>
              </a:rPr>
              <a:t>DELETE {{usersResourceUrl}}/{{recordId}}</a:t>
            </a:r>
            <a:endParaRPr lang="en-US" sz="1100" dirty="0"/>
          </a:p>
          <a:p>
            <a:pPr indent="0" marL="0">
              <a:buNone/>
            </a:pPr>
            <a:r>
              <a:rPr lang="en-US" sz="1100" dirty="0">
                <a:solidFill>
                  <a:srgbClr val="3E4C59"/>
                </a:solidFill>
                <a:latin typeface="Segoe UI" pitchFamily="34" charset="0"/>
                <a:ea typeface="Segoe UI" pitchFamily="34" charset="-122"/>
                <a:cs typeface="Segoe UI" pitchFamily="34" charset="-120"/>
              </a:rPr>
              <a:t>Deletion is behind a confirmation prompt.</a:t>
            </a:r>
            <a:endParaRPr lang="en-US" sz="1100" dirty="0"/>
          </a:p>
        </p:txBody>
      </p:sp>
      <p:sp>
        <p:nvSpPr>
          <p:cNvPr id="24" name="Text 22"/>
          <p:cNvSpPr/>
          <p:nvPr/>
        </p:nvSpPr>
        <p:spPr>
          <a:xfrm>
            <a:off x="566928" y="4892040"/>
            <a:ext cx="11057839" cy="365760"/>
          </a:xfrm>
          <a:prstGeom prst="rect">
            <a:avLst/>
          </a:prstGeom>
          <a:noFill/>
          <a:ln/>
        </p:spPr>
        <p:txBody>
          <a:bodyPr wrap="square" rtlCol="0" anchor="ctr"/>
          <a:lstStyle/>
          <a:p>
            <a:pPr indent="0" marL="0">
              <a:buNone/>
            </a:pPr>
            <a:r>
              <a:rPr lang="en-US" sz="1150" dirty="0">
                <a:solidFill>
                  <a:srgbClr val="3E4C59"/>
                </a:solidFill>
                <a:latin typeface="Segoe UI" pitchFamily="34" charset="0"/>
                <a:ea typeface="Segoe UI" pitchFamily="34" charset="-122"/>
                <a:cs typeface="Segoe UI" pitchFamily="34" charset="-120"/>
              </a:rPr>
              <a:t>Register → login → modify → delete is exercisable end to end; the smoke test drives it against a live REST resource.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COMPLIANCE</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Required response copy</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9</a:t>
            </a:r>
            <a:endParaRPr lang="en-US" sz="850" dirty="0"/>
          </a:p>
        </p:txBody>
      </p:sp>
      <p:sp>
        <p:nvSpPr>
          <p:cNvPr id="8" name="Shape 6"/>
          <p:cNvSpPr/>
          <p:nvPr/>
        </p:nvSpPr>
        <p:spPr>
          <a:xfrm>
            <a:off x="566928" y="1572768"/>
            <a:ext cx="7863840" cy="438912"/>
          </a:xfrm>
          <a:prstGeom prst="roundRect">
            <a:avLst>
              <a:gd name="adj" fmla="val 8333"/>
            </a:avLst>
          </a:prstGeom>
          <a:solidFill>
            <a:srgbClr val="FFFFFF"/>
          </a:solidFill>
          <a:ln w="12700">
            <a:solidFill>
              <a:srgbClr val="D8E0DE"/>
            </a:solidFill>
            <a:prstDash val="solid"/>
          </a:ln>
        </p:spPr>
      </p:sp>
      <p:sp>
        <p:nvSpPr>
          <p:cNvPr id="9" name="Text 7"/>
          <p:cNvSpPr/>
          <p:nvPr/>
        </p:nvSpPr>
        <p:spPr>
          <a:xfrm>
            <a:off x="749808" y="1600200"/>
            <a:ext cx="7498080" cy="384048"/>
          </a:xfrm>
          <a:prstGeom prst="rect">
            <a:avLst/>
          </a:prstGeom>
          <a:noFill/>
          <a:ln/>
        </p:spPr>
        <p:txBody>
          <a:bodyPr wrap="square" rtlCol="0" anchor="ctr"/>
          <a:lstStyle/>
          <a:p>
            <a:pPr indent="0" marL="0">
              <a:buNone/>
            </a:pPr>
            <a:r>
              <a:rPr lang="en-US" sz="1200" dirty="0">
                <a:solidFill>
                  <a:srgbClr val="1F2933"/>
                </a:solidFill>
                <a:latin typeface="Segoe UI" pitchFamily="34" charset="0"/>
                <a:ea typeface="Segoe UI" pitchFamily="34" charset="-122"/>
                <a:cs typeface="Segoe UI" pitchFamily="34" charset="-120"/>
              </a:rPr>
              <a:t>Hello! Welcome to our Virtual Assistant.</a:t>
            </a:r>
            <a:endParaRPr lang="en-US" sz="1200" dirty="0"/>
          </a:p>
        </p:txBody>
      </p:sp>
      <p:sp>
        <p:nvSpPr>
          <p:cNvPr id="10" name="Shape 8"/>
          <p:cNvSpPr/>
          <p:nvPr/>
        </p:nvSpPr>
        <p:spPr>
          <a:xfrm>
            <a:off x="8613648" y="1572768"/>
            <a:ext cx="1234440" cy="438912"/>
          </a:xfrm>
          <a:prstGeom prst="roundRect">
            <a:avLst>
              <a:gd name="adj" fmla="val 8333"/>
            </a:avLst>
          </a:prstGeom>
          <a:solidFill>
            <a:srgbClr val="E7F4EC"/>
          </a:solidFill>
          <a:ln/>
        </p:spPr>
      </p:sp>
      <p:sp>
        <p:nvSpPr>
          <p:cNvPr id="11" name="Text 9"/>
          <p:cNvSpPr/>
          <p:nvPr/>
        </p:nvSpPr>
        <p:spPr>
          <a:xfrm>
            <a:off x="8613648" y="1600200"/>
            <a:ext cx="1234440" cy="384048"/>
          </a:xfrm>
          <a:prstGeom prst="rect">
            <a:avLst/>
          </a:prstGeom>
          <a:noFill/>
          <a:ln/>
        </p:spPr>
        <p:txBody>
          <a:bodyPr wrap="square" rtlCol="0" anchor="ctr"/>
          <a:lstStyle/>
          <a:p>
            <a:pPr algn="ctr" indent="0" marL="0">
              <a:buNone/>
            </a:pPr>
            <a:r>
              <a:rPr lang="en-US" sz="1050" b="1" dirty="0">
                <a:solidFill>
                  <a:srgbClr val="1E7A46"/>
                </a:solidFill>
                <a:latin typeface="Segoe UI" pitchFamily="34" charset="0"/>
                <a:ea typeface="Segoe UI" pitchFamily="34" charset="-122"/>
                <a:cs typeface="Segoe UI" pitchFamily="34" charset="-120"/>
              </a:rPr>
              <a:t>Verified</a:t>
            </a:r>
            <a:endParaRPr lang="en-US" sz="1050" dirty="0"/>
          </a:p>
        </p:txBody>
      </p:sp>
      <p:sp>
        <p:nvSpPr>
          <p:cNvPr id="12" name="Shape 10"/>
          <p:cNvSpPr/>
          <p:nvPr/>
        </p:nvSpPr>
        <p:spPr>
          <a:xfrm>
            <a:off x="566928" y="2084832"/>
            <a:ext cx="7863840" cy="438912"/>
          </a:xfrm>
          <a:prstGeom prst="roundRect">
            <a:avLst>
              <a:gd name="adj" fmla="val 8333"/>
            </a:avLst>
          </a:prstGeom>
          <a:solidFill>
            <a:srgbClr val="FFFFFF"/>
          </a:solidFill>
          <a:ln w="12700">
            <a:solidFill>
              <a:srgbClr val="D8E0DE"/>
            </a:solidFill>
            <a:prstDash val="solid"/>
          </a:ln>
        </p:spPr>
      </p:sp>
      <p:sp>
        <p:nvSpPr>
          <p:cNvPr id="13" name="Text 11"/>
          <p:cNvSpPr/>
          <p:nvPr/>
        </p:nvSpPr>
        <p:spPr>
          <a:xfrm>
            <a:off x="749808" y="2112264"/>
            <a:ext cx="7498080" cy="384048"/>
          </a:xfrm>
          <a:prstGeom prst="rect">
            <a:avLst/>
          </a:prstGeom>
          <a:noFill/>
          <a:ln/>
        </p:spPr>
        <p:txBody>
          <a:bodyPr wrap="square" rtlCol="0" anchor="ctr"/>
          <a:lstStyle/>
          <a:p>
            <a:pPr indent="0" marL="0">
              <a:buNone/>
            </a:pPr>
            <a:r>
              <a:rPr lang="en-US" sz="1200" dirty="0">
                <a:solidFill>
                  <a:srgbClr val="1F2933"/>
                </a:solidFill>
                <a:latin typeface="Segoe UI" pitchFamily="34" charset="0"/>
                <a:ea typeface="Segoe UI" pitchFamily="34" charset="-122"/>
                <a:cs typeface="Segoe UI" pitchFamily="34" charset="-120"/>
              </a:rPr>
              <a:t>Registration successful! Would you like to continue?</a:t>
            </a:r>
            <a:endParaRPr lang="en-US" sz="1200" dirty="0"/>
          </a:p>
        </p:txBody>
      </p:sp>
      <p:sp>
        <p:nvSpPr>
          <p:cNvPr id="14" name="Shape 12"/>
          <p:cNvSpPr/>
          <p:nvPr/>
        </p:nvSpPr>
        <p:spPr>
          <a:xfrm>
            <a:off x="8613648" y="2084832"/>
            <a:ext cx="1234440" cy="438912"/>
          </a:xfrm>
          <a:prstGeom prst="roundRect">
            <a:avLst>
              <a:gd name="adj" fmla="val 8333"/>
            </a:avLst>
          </a:prstGeom>
          <a:solidFill>
            <a:srgbClr val="FCF3E3"/>
          </a:solidFill>
          <a:ln/>
        </p:spPr>
      </p:sp>
      <p:sp>
        <p:nvSpPr>
          <p:cNvPr id="15" name="Text 13"/>
          <p:cNvSpPr/>
          <p:nvPr/>
        </p:nvSpPr>
        <p:spPr>
          <a:xfrm>
            <a:off x="8613648" y="2112264"/>
            <a:ext cx="1234440" cy="384048"/>
          </a:xfrm>
          <a:prstGeom prst="rect">
            <a:avLst/>
          </a:prstGeom>
          <a:noFill/>
          <a:ln/>
        </p:spPr>
        <p:txBody>
          <a:bodyPr wrap="square" rtlCol="0" anchor="ctr"/>
          <a:lstStyle/>
          <a:p>
            <a:pPr algn="ctr" indent="0" marL="0">
              <a:buNone/>
            </a:pPr>
            <a:r>
              <a:rPr lang="en-US" sz="1050" b="1" dirty="0">
                <a:solidFill>
                  <a:srgbClr val="B7791F"/>
                </a:solidFill>
                <a:latin typeface="Segoe UI" pitchFamily="34" charset="0"/>
                <a:ea typeface="Segoe UI" pitchFamily="34" charset="-122"/>
                <a:cs typeface="Segoe UI" pitchFamily="34" charset="-120"/>
              </a:rPr>
              <a:t>Pending</a:t>
            </a:r>
            <a:endParaRPr lang="en-US" sz="1050" dirty="0"/>
          </a:p>
        </p:txBody>
      </p:sp>
      <p:sp>
        <p:nvSpPr>
          <p:cNvPr id="16" name="Shape 14"/>
          <p:cNvSpPr/>
          <p:nvPr/>
        </p:nvSpPr>
        <p:spPr>
          <a:xfrm>
            <a:off x="566928" y="2596896"/>
            <a:ext cx="7863840" cy="438912"/>
          </a:xfrm>
          <a:prstGeom prst="roundRect">
            <a:avLst>
              <a:gd name="adj" fmla="val 8333"/>
            </a:avLst>
          </a:prstGeom>
          <a:solidFill>
            <a:srgbClr val="FFFFFF"/>
          </a:solidFill>
          <a:ln w="12700">
            <a:solidFill>
              <a:srgbClr val="D8E0DE"/>
            </a:solidFill>
            <a:prstDash val="solid"/>
          </a:ln>
        </p:spPr>
      </p:sp>
      <p:sp>
        <p:nvSpPr>
          <p:cNvPr id="17" name="Text 15"/>
          <p:cNvSpPr/>
          <p:nvPr/>
        </p:nvSpPr>
        <p:spPr>
          <a:xfrm>
            <a:off x="749808" y="2624328"/>
            <a:ext cx="7498080" cy="384048"/>
          </a:xfrm>
          <a:prstGeom prst="rect">
            <a:avLst/>
          </a:prstGeom>
          <a:noFill/>
          <a:ln/>
        </p:spPr>
        <p:txBody>
          <a:bodyPr wrap="square" rtlCol="0" anchor="ctr"/>
          <a:lstStyle/>
          <a:p>
            <a:pPr indent="0" marL="0">
              <a:buNone/>
            </a:pPr>
            <a:r>
              <a:rPr lang="en-US" sz="1200" dirty="0">
                <a:solidFill>
                  <a:srgbClr val="1F2933"/>
                </a:solidFill>
                <a:latin typeface="Segoe UI" pitchFamily="34" charset="0"/>
                <a:ea typeface="Segoe UI" pitchFamily="34" charset="-122"/>
                <a:cs typeface="Segoe UI" pitchFamily="34" charset="-120"/>
              </a:rPr>
              <a:t>Thank you! Have a great day.</a:t>
            </a:r>
            <a:endParaRPr lang="en-US" sz="1200" dirty="0"/>
          </a:p>
        </p:txBody>
      </p:sp>
      <p:sp>
        <p:nvSpPr>
          <p:cNvPr id="18" name="Shape 16"/>
          <p:cNvSpPr/>
          <p:nvPr/>
        </p:nvSpPr>
        <p:spPr>
          <a:xfrm>
            <a:off x="8613648" y="2596896"/>
            <a:ext cx="1234440" cy="438912"/>
          </a:xfrm>
          <a:prstGeom prst="roundRect">
            <a:avLst>
              <a:gd name="adj" fmla="val 8333"/>
            </a:avLst>
          </a:prstGeom>
          <a:solidFill>
            <a:srgbClr val="FCF3E3"/>
          </a:solidFill>
          <a:ln/>
        </p:spPr>
      </p:sp>
      <p:sp>
        <p:nvSpPr>
          <p:cNvPr id="19" name="Text 17"/>
          <p:cNvSpPr/>
          <p:nvPr/>
        </p:nvSpPr>
        <p:spPr>
          <a:xfrm>
            <a:off x="8613648" y="2624328"/>
            <a:ext cx="1234440" cy="384048"/>
          </a:xfrm>
          <a:prstGeom prst="rect">
            <a:avLst/>
          </a:prstGeom>
          <a:noFill/>
          <a:ln/>
        </p:spPr>
        <p:txBody>
          <a:bodyPr wrap="square" rtlCol="0" anchor="ctr"/>
          <a:lstStyle/>
          <a:p>
            <a:pPr algn="ctr" indent="0" marL="0">
              <a:buNone/>
            </a:pPr>
            <a:r>
              <a:rPr lang="en-US" sz="1050" b="1" dirty="0">
                <a:solidFill>
                  <a:srgbClr val="B7791F"/>
                </a:solidFill>
                <a:latin typeface="Segoe UI" pitchFamily="34" charset="0"/>
                <a:ea typeface="Segoe UI" pitchFamily="34" charset="-122"/>
                <a:cs typeface="Segoe UI" pitchFamily="34" charset="-120"/>
              </a:rPr>
              <a:t>Pending</a:t>
            </a:r>
            <a:endParaRPr lang="en-US" sz="1050" dirty="0"/>
          </a:p>
        </p:txBody>
      </p:sp>
      <p:sp>
        <p:nvSpPr>
          <p:cNvPr id="20" name="Shape 18"/>
          <p:cNvSpPr/>
          <p:nvPr/>
        </p:nvSpPr>
        <p:spPr>
          <a:xfrm>
            <a:off x="566928" y="3108960"/>
            <a:ext cx="7863840" cy="438912"/>
          </a:xfrm>
          <a:prstGeom prst="roundRect">
            <a:avLst>
              <a:gd name="adj" fmla="val 8333"/>
            </a:avLst>
          </a:prstGeom>
          <a:solidFill>
            <a:srgbClr val="FFFFFF"/>
          </a:solidFill>
          <a:ln w="12700">
            <a:solidFill>
              <a:srgbClr val="D8E0DE"/>
            </a:solidFill>
            <a:prstDash val="solid"/>
          </a:ln>
        </p:spPr>
      </p:sp>
      <p:sp>
        <p:nvSpPr>
          <p:cNvPr id="21" name="Text 19"/>
          <p:cNvSpPr/>
          <p:nvPr/>
        </p:nvSpPr>
        <p:spPr>
          <a:xfrm>
            <a:off x="749808" y="3136392"/>
            <a:ext cx="7498080" cy="384048"/>
          </a:xfrm>
          <a:prstGeom prst="rect">
            <a:avLst/>
          </a:prstGeom>
          <a:noFill/>
          <a:ln/>
        </p:spPr>
        <p:txBody>
          <a:bodyPr wrap="square" rtlCol="0" anchor="ctr"/>
          <a:lstStyle/>
          <a:p>
            <a:pPr indent="0" marL="0">
              <a:buNone/>
            </a:pPr>
            <a:r>
              <a:rPr lang="en-US" sz="1200" dirty="0">
                <a:solidFill>
                  <a:srgbClr val="1F2933"/>
                </a:solidFill>
                <a:latin typeface="Segoe UI" pitchFamily="34" charset="0"/>
                <a:ea typeface="Segoe UI" pitchFamily="34" charset="-122"/>
                <a:cs typeface="Segoe UI" pitchFamily="34" charset="-120"/>
              </a:rPr>
              <a:t>This email is not registered. Would you like to create a new account?</a:t>
            </a:r>
            <a:endParaRPr lang="en-US" sz="1200" dirty="0"/>
          </a:p>
        </p:txBody>
      </p:sp>
      <p:sp>
        <p:nvSpPr>
          <p:cNvPr id="22" name="Shape 20"/>
          <p:cNvSpPr/>
          <p:nvPr/>
        </p:nvSpPr>
        <p:spPr>
          <a:xfrm>
            <a:off x="8613648" y="3108960"/>
            <a:ext cx="1234440" cy="438912"/>
          </a:xfrm>
          <a:prstGeom prst="roundRect">
            <a:avLst>
              <a:gd name="adj" fmla="val 8333"/>
            </a:avLst>
          </a:prstGeom>
          <a:solidFill>
            <a:srgbClr val="FCF3E3"/>
          </a:solidFill>
          <a:ln/>
        </p:spPr>
      </p:sp>
      <p:sp>
        <p:nvSpPr>
          <p:cNvPr id="23" name="Text 21"/>
          <p:cNvSpPr/>
          <p:nvPr/>
        </p:nvSpPr>
        <p:spPr>
          <a:xfrm>
            <a:off x="8613648" y="3136392"/>
            <a:ext cx="1234440" cy="384048"/>
          </a:xfrm>
          <a:prstGeom prst="rect">
            <a:avLst/>
          </a:prstGeom>
          <a:noFill/>
          <a:ln/>
        </p:spPr>
        <p:txBody>
          <a:bodyPr wrap="square" rtlCol="0" anchor="ctr"/>
          <a:lstStyle/>
          <a:p>
            <a:pPr algn="ctr" indent="0" marL="0">
              <a:buNone/>
            </a:pPr>
            <a:r>
              <a:rPr lang="en-US" sz="1050" b="1" dirty="0">
                <a:solidFill>
                  <a:srgbClr val="B7791F"/>
                </a:solidFill>
                <a:latin typeface="Segoe UI" pitchFamily="34" charset="0"/>
                <a:ea typeface="Segoe UI" pitchFamily="34" charset="-122"/>
                <a:cs typeface="Segoe UI" pitchFamily="34" charset="-120"/>
              </a:rPr>
              <a:t>Pending</a:t>
            </a:r>
            <a:endParaRPr lang="en-US" sz="1050" dirty="0"/>
          </a:p>
        </p:txBody>
      </p:sp>
      <p:sp>
        <p:nvSpPr>
          <p:cNvPr id="24" name="Shape 22"/>
          <p:cNvSpPr/>
          <p:nvPr/>
        </p:nvSpPr>
        <p:spPr>
          <a:xfrm>
            <a:off x="566928" y="3621024"/>
            <a:ext cx="7863840" cy="438912"/>
          </a:xfrm>
          <a:prstGeom prst="roundRect">
            <a:avLst>
              <a:gd name="adj" fmla="val 8333"/>
            </a:avLst>
          </a:prstGeom>
          <a:solidFill>
            <a:srgbClr val="FFFFFF"/>
          </a:solidFill>
          <a:ln w="12700">
            <a:solidFill>
              <a:srgbClr val="D8E0DE"/>
            </a:solidFill>
            <a:prstDash val="solid"/>
          </a:ln>
        </p:spPr>
      </p:sp>
      <p:sp>
        <p:nvSpPr>
          <p:cNvPr id="25" name="Text 23"/>
          <p:cNvSpPr/>
          <p:nvPr/>
        </p:nvSpPr>
        <p:spPr>
          <a:xfrm>
            <a:off x="749808" y="3648456"/>
            <a:ext cx="7498080" cy="384048"/>
          </a:xfrm>
          <a:prstGeom prst="rect">
            <a:avLst/>
          </a:prstGeom>
          <a:noFill/>
          <a:ln/>
        </p:spPr>
        <p:txBody>
          <a:bodyPr wrap="square" rtlCol="0" anchor="ctr"/>
          <a:lstStyle/>
          <a:p>
            <a:pPr indent="0" marL="0">
              <a:buNone/>
            </a:pPr>
            <a:r>
              <a:rPr lang="en-US" sz="1200" dirty="0">
                <a:solidFill>
                  <a:srgbClr val="1F2933"/>
                </a:solidFill>
                <a:latin typeface="Segoe UI" pitchFamily="34" charset="0"/>
                <a:ea typeface="Segoe UI" pitchFamily="34" charset="-122"/>
                <a:cs typeface="Segoe UI" pitchFamily="34" charset="-120"/>
              </a:rPr>
              <a:t>No problem! Have a great day.</a:t>
            </a:r>
            <a:endParaRPr lang="en-US" sz="1200" dirty="0"/>
          </a:p>
        </p:txBody>
      </p:sp>
      <p:sp>
        <p:nvSpPr>
          <p:cNvPr id="26" name="Shape 24"/>
          <p:cNvSpPr/>
          <p:nvPr/>
        </p:nvSpPr>
        <p:spPr>
          <a:xfrm>
            <a:off x="8613648" y="3621024"/>
            <a:ext cx="1234440" cy="438912"/>
          </a:xfrm>
          <a:prstGeom prst="roundRect">
            <a:avLst>
              <a:gd name="adj" fmla="val 8333"/>
            </a:avLst>
          </a:prstGeom>
          <a:solidFill>
            <a:srgbClr val="E7F4EC"/>
          </a:solidFill>
          <a:ln/>
        </p:spPr>
      </p:sp>
      <p:sp>
        <p:nvSpPr>
          <p:cNvPr id="27" name="Text 25"/>
          <p:cNvSpPr/>
          <p:nvPr/>
        </p:nvSpPr>
        <p:spPr>
          <a:xfrm>
            <a:off x="8613648" y="3648456"/>
            <a:ext cx="1234440" cy="384048"/>
          </a:xfrm>
          <a:prstGeom prst="rect">
            <a:avLst/>
          </a:prstGeom>
          <a:noFill/>
          <a:ln/>
        </p:spPr>
        <p:txBody>
          <a:bodyPr wrap="square" rtlCol="0" anchor="ctr"/>
          <a:lstStyle/>
          <a:p>
            <a:pPr algn="ctr" indent="0" marL="0">
              <a:buNone/>
            </a:pPr>
            <a:r>
              <a:rPr lang="en-US" sz="1050" b="1" dirty="0">
                <a:solidFill>
                  <a:srgbClr val="1E7A46"/>
                </a:solidFill>
                <a:latin typeface="Segoe UI" pitchFamily="34" charset="0"/>
                <a:ea typeface="Segoe UI" pitchFamily="34" charset="-122"/>
                <a:cs typeface="Segoe UI" pitchFamily="34" charset="-120"/>
              </a:rPr>
              <a:t>Verified</a:t>
            </a:r>
            <a:endParaRPr lang="en-US" sz="1050" dirty="0"/>
          </a:p>
        </p:txBody>
      </p:sp>
      <p:sp>
        <p:nvSpPr>
          <p:cNvPr id="28" name="Shape 26"/>
          <p:cNvSpPr/>
          <p:nvPr/>
        </p:nvSpPr>
        <p:spPr>
          <a:xfrm>
            <a:off x="566928" y="4133088"/>
            <a:ext cx="7863840" cy="438912"/>
          </a:xfrm>
          <a:prstGeom prst="roundRect">
            <a:avLst>
              <a:gd name="adj" fmla="val 8333"/>
            </a:avLst>
          </a:prstGeom>
          <a:solidFill>
            <a:srgbClr val="FFFFFF"/>
          </a:solidFill>
          <a:ln w="12700">
            <a:solidFill>
              <a:srgbClr val="D8E0DE"/>
            </a:solidFill>
            <a:prstDash val="solid"/>
          </a:ln>
        </p:spPr>
      </p:sp>
      <p:sp>
        <p:nvSpPr>
          <p:cNvPr id="29" name="Text 27"/>
          <p:cNvSpPr/>
          <p:nvPr/>
        </p:nvSpPr>
        <p:spPr>
          <a:xfrm>
            <a:off x="749808" y="4160520"/>
            <a:ext cx="7498080" cy="384048"/>
          </a:xfrm>
          <a:prstGeom prst="rect">
            <a:avLst/>
          </a:prstGeom>
          <a:noFill/>
          <a:ln/>
        </p:spPr>
        <p:txBody>
          <a:bodyPr wrap="square" rtlCol="0" anchor="ctr"/>
          <a:lstStyle/>
          <a:p>
            <a:pPr indent="0" marL="0">
              <a:buNone/>
            </a:pPr>
            <a:r>
              <a:rPr lang="en-US" sz="1200" dirty="0">
                <a:solidFill>
                  <a:srgbClr val="1F2933"/>
                </a:solidFill>
                <a:latin typeface="Segoe UI" pitchFamily="34" charset="0"/>
                <a:ea typeface="Segoe UI" pitchFamily="34" charset="-122"/>
                <a:cs typeface="Segoe UI" pitchFamily="34" charset="-120"/>
              </a:rPr>
              <a:t>Hello [username]! You have successfully logged in.</a:t>
            </a:r>
            <a:endParaRPr lang="en-US" sz="1200" dirty="0"/>
          </a:p>
        </p:txBody>
      </p:sp>
      <p:sp>
        <p:nvSpPr>
          <p:cNvPr id="30" name="Shape 28"/>
          <p:cNvSpPr/>
          <p:nvPr/>
        </p:nvSpPr>
        <p:spPr>
          <a:xfrm>
            <a:off x="8613648" y="4133088"/>
            <a:ext cx="1234440" cy="438912"/>
          </a:xfrm>
          <a:prstGeom prst="roundRect">
            <a:avLst>
              <a:gd name="adj" fmla="val 8333"/>
            </a:avLst>
          </a:prstGeom>
          <a:solidFill>
            <a:srgbClr val="FCF3E3"/>
          </a:solidFill>
          <a:ln/>
        </p:spPr>
      </p:sp>
      <p:sp>
        <p:nvSpPr>
          <p:cNvPr id="31" name="Text 29"/>
          <p:cNvSpPr/>
          <p:nvPr/>
        </p:nvSpPr>
        <p:spPr>
          <a:xfrm>
            <a:off x="8613648" y="4160520"/>
            <a:ext cx="1234440" cy="384048"/>
          </a:xfrm>
          <a:prstGeom prst="rect">
            <a:avLst/>
          </a:prstGeom>
          <a:noFill/>
          <a:ln/>
        </p:spPr>
        <p:txBody>
          <a:bodyPr wrap="square" rtlCol="0" anchor="ctr"/>
          <a:lstStyle/>
          <a:p>
            <a:pPr algn="ctr" indent="0" marL="0">
              <a:buNone/>
            </a:pPr>
            <a:r>
              <a:rPr lang="en-US" sz="1050" b="1" dirty="0">
                <a:solidFill>
                  <a:srgbClr val="B7791F"/>
                </a:solidFill>
                <a:latin typeface="Segoe UI" pitchFamily="34" charset="0"/>
                <a:ea typeface="Segoe UI" pitchFamily="34" charset="-122"/>
                <a:cs typeface="Segoe UI" pitchFamily="34" charset="-120"/>
              </a:rPr>
              <a:t>Pending</a:t>
            </a:r>
            <a:endParaRPr lang="en-US" sz="1050" dirty="0"/>
          </a:p>
        </p:txBody>
      </p:sp>
      <p:sp>
        <p:nvSpPr>
          <p:cNvPr id="32" name="Shape 30"/>
          <p:cNvSpPr/>
          <p:nvPr/>
        </p:nvSpPr>
        <p:spPr>
          <a:xfrm>
            <a:off x="566928" y="4645152"/>
            <a:ext cx="7863840" cy="438912"/>
          </a:xfrm>
          <a:prstGeom prst="roundRect">
            <a:avLst>
              <a:gd name="adj" fmla="val 8333"/>
            </a:avLst>
          </a:prstGeom>
          <a:solidFill>
            <a:srgbClr val="FFFFFF"/>
          </a:solidFill>
          <a:ln w="12700">
            <a:solidFill>
              <a:srgbClr val="D8E0DE"/>
            </a:solidFill>
            <a:prstDash val="solid"/>
          </a:ln>
        </p:spPr>
      </p:sp>
      <p:sp>
        <p:nvSpPr>
          <p:cNvPr id="33" name="Text 31"/>
          <p:cNvSpPr/>
          <p:nvPr/>
        </p:nvSpPr>
        <p:spPr>
          <a:xfrm>
            <a:off x="749808" y="4672584"/>
            <a:ext cx="7498080" cy="384048"/>
          </a:xfrm>
          <a:prstGeom prst="rect">
            <a:avLst/>
          </a:prstGeom>
          <a:noFill/>
          <a:ln/>
        </p:spPr>
        <p:txBody>
          <a:bodyPr wrap="square" rtlCol="0" anchor="ctr"/>
          <a:lstStyle/>
          <a:p>
            <a:pPr indent="0" marL="0">
              <a:buNone/>
            </a:pPr>
            <a:r>
              <a:rPr lang="en-US" sz="1200" dirty="0">
                <a:solidFill>
                  <a:srgbClr val="1F2933"/>
                </a:solidFill>
                <a:latin typeface="Segoe UI" pitchFamily="34" charset="0"/>
                <a:ea typeface="Segoe UI" pitchFamily="34" charset="-122"/>
                <a:cs typeface="Segoe UI" pitchFamily="34" charset="-120"/>
              </a:rPr>
              <a:t>Something went wrong. Please try again later.</a:t>
            </a:r>
            <a:endParaRPr lang="en-US" sz="1200" dirty="0"/>
          </a:p>
        </p:txBody>
      </p:sp>
      <p:sp>
        <p:nvSpPr>
          <p:cNvPr id="34" name="Shape 32"/>
          <p:cNvSpPr/>
          <p:nvPr/>
        </p:nvSpPr>
        <p:spPr>
          <a:xfrm>
            <a:off x="8613648" y="4645152"/>
            <a:ext cx="1234440" cy="438912"/>
          </a:xfrm>
          <a:prstGeom prst="roundRect">
            <a:avLst>
              <a:gd name="adj" fmla="val 8333"/>
            </a:avLst>
          </a:prstGeom>
          <a:solidFill>
            <a:srgbClr val="FCF3E3"/>
          </a:solidFill>
          <a:ln/>
        </p:spPr>
      </p:sp>
      <p:sp>
        <p:nvSpPr>
          <p:cNvPr id="35" name="Text 33"/>
          <p:cNvSpPr/>
          <p:nvPr/>
        </p:nvSpPr>
        <p:spPr>
          <a:xfrm>
            <a:off x="8613648" y="4672584"/>
            <a:ext cx="1234440" cy="384048"/>
          </a:xfrm>
          <a:prstGeom prst="rect">
            <a:avLst/>
          </a:prstGeom>
          <a:noFill/>
          <a:ln/>
        </p:spPr>
        <p:txBody>
          <a:bodyPr wrap="square" rtlCol="0" anchor="ctr"/>
          <a:lstStyle/>
          <a:p>
            <a:pPr algn="ctr" indent="0" marL="0">
              <a:buNone/>
            </a:pPr>
            <a:r>
              <a:rPr lang="en-US" sz="1050" b="1" dirty="0">
                <a:solidFill>
                  <a:srgbClr val="B7791F"/>
                </a:solidFill>
                <a:latin typeface="Segoe UI" pitchFamily="34" charset="0"/>
                <a:ea typeface="Segoe UI" pitchFamily="34" charset="-122"/>
                <a:cs typeface="Segoe UI" pitchFamily="34" charset="-120"/>
              </a:rPr>
              <a:t>Pending</a:t>
            </a:r>
            <a:endParaRPr lang="en-US" sz="1050" dirty="0"/>
          </a:p>
        </p:txBody>
      </p:sp>
      <p:sp>
        <p:nvSpPr>
          <p:cNvPr id="36" name="Shape 34"/>
          <p:cNvSpPr/>
          <p:nvPr/>
        </p:nvSpPr>
        <p:spPr>
          <a:xfrm>
            <a:off x="10030968" y="1572768"/>
            <a:ext cx="1591056" cy="3584448"/>
          </a:xfrm>
          <a:prstGeom prst="roundRect">
            <a:avLst>
              <a:gd name="adj" fmla="val 3448"/>
            </a:avLst>
          </a:prstGeom>
          <a:solidFill>
            <a:srgbClr val="EFF6F5"/>
          </a:solidFill>
          <a:ln w="12700">
            <a:solidFill>
              <a:srgbClr val="D8E0DE"/>
            </a:solidFill>
            <a:prstDash val="solid"/>
          </a:ln>
        </p:spPr>
      </p:sp>
      <p:sp>
        <p:nvSpPr>
          <p:cNvPr id="37" name="Shape 35"/>
          <p:cNvSpPr/>
          <p:nvPr/>
        </p:nvSpPr>
        <p:spPr>
          <a:xfrm>
            <a:off x="10030968" y="1572768"/>
            <a:ext cx="50292" cy="3584448"/>
          </a:xfrm>
          <a:prstGeom prst="rect">
            <a:avLst/>
          </a:prstGeom>
          <a:solidFill>
            <a:srgbClr val="15766D"/>
          </a:solidFill>
          <a:ln/>
        </p:spPr>
      </p:sp>
      <p:sp>
        <p:nvSpPr>
          <p:cNvPr id="38" name="Text 36"/>
          <p:cNvSpPr/>
          <p:nvPr/>
        </p:nvSpPr>
        <p:spPr>
          <a:xfrm>
            <a:off x="10232136" y="1719072"/>
            <a:ext cx="1225296" cy="274320"/>
          </a:xfrm>
          <a:prstGeom prst="rect">
            <a:avLst/>
          </a:prstGeom>
          <a:noFill/>
          <a:ln/>
        </p:spPr>
        <p:txBody>
          <a:bodyPr wrap="square" rtlCol="0" anchor="ctr"/>
          <a:lstStyle/>
          <a:p>
            <a:pPr indent="0" marL="0">
              <a:buNone/>
            </a:pPr>
            <a:r>
              <a:rPr lang="en-US" sz="1100" b="1" dirty="0">
                <a:solidFill>
                  <a:srgbClr val="12312C"/>
                </a:solidFill>
                <a:latin typeface="Segoe UI" pitchFamily="34" charset="0"/>
                <a:ea typeface="Segoe UI" pitchFamily="34" charset="-122"/>
                <a:cs typeface="Segoe UI" pitchFamily="34" charset="-120"/>
              </a:rPr>
              <a:t>2 / 7</a:t>
            </a:r>
            <a:endParaRPr lang="en-US" sz="1100" dirty="0"/>
          </a:p>
        </p:txBody>
      </p:sp>
      <p:sp>
        <p:nvSpPr>
          <p:cNvPr id="39" name="Text 37"/>
          <p:cNvSpPr/>
          <p:nvPr/>
        </p:nvSpPr>
        <p:spPr>
          <a:xfrm>
            <a:off x="10232136" y="2029968"/>
            <a:ext cx="1225296" cy="2999232"/>
          </a:xfrm>
          <a:prstGeom prst="rect">
            <a:avLst/>
          </a:prstGeom>
          <a:noFill/>
          <a:ln/>
        </p:spPr>
        <p:txBody>
          <a:bodyPr wrap="square" rtlCol="0" anchor="t"/>
          <a:lstStyle/>
          <a:p>
            <a:pPr indent="0" marL="0">
              <a:buNone/>
            </a:pPr>
            <a:r>
              <a:rPr lang="en-US" sz="1050" dirty="0">
                <a:solidFill>
                  <a:srgbClr val="3E4C59"/>
                </a:solidFill>
                <a:latin typeface="Segoe UI" pitchFamily="34" charset="0"/>
                <a:ea typeface="Segoe UI" pitchFamily="34" charset="-122"/>
                <a:cs typeface="Segoe UI" pitchFamily="34" charset="-120"/>
              </a:rPr>
              <a:t>verified live in the Kore.ai builder.</a:t>
            </a:r>
            <a:endParaRPr lang="en-US" sz="1050" dirty="0"/>
          </a:p>
          <a:p>
            <a:pPr indent="0" marL="0">
              <a:buNone/>
            </a:pPr>
            <a:endParaRPr lang="en-US" sz="1050" dirty="0"/>
          </a:p>
          <a:p>
            <a:pPr indent="0" marL="0">
              <a:buNone/>
            </a:pPr>
            <a:r>
              <a:rPr lang="en-US" sz="1050" dirty="0">
                <a:solidFill>
                  <a:srgbClr val="3E4C59"/>
                </a:solidFill>
                <a:latin typeface="Segoe UI" pitchFamily="34" charset="0"/>
                <a:ea typeface="Segoe UI" pitchFamily="34" charset="-122"/>
                <a:cs typeface="Segoe UI" pitchFamily="34" charset="-120"/>
              </a:rPr>
              <a:t>All seven strings are implemented and asserted in the local app.</a:t>
            </a:r>
            <a:endParaRPr lang="en-US" sz="1050" dirty="0"/>
          </a:p>
        </p:txBody>
      </p:sp>
      <p:sp>
        <p:nvSpPr>
          <p:cNvPr id="40" name="Text 38"/>
          <p:cNvSpPr/>
          <p:nvPr/>
        </p:nvSpPr>
        <p:spPr>
          <a:xfrm>
            <a:off x="566928" y="5349240"/>
            <a:ext cx="7863840" cy="548640"/>
          </a:xfrm>
          <a:prstGeom prst="rect">
            <a:avLst/>
          </a:prstGeom>
          <a:noFill/>
          <a:ln/>
        </p:spPr>
        <p:txBody>
          <a:bodyPr wrap="square" rtlCol="0" anchor="ctr"/>
          <a:lstStyle/>
          <a:p>
            <a:pPr indent="0" marL="0">
              <a:buNone/>
            </a:pPr>
            <a:r>
              <a:rPr lang="en-US" sz="1100" i="1" dirty="0">
                <a:solidFill>
                  <a:srgbClr val="7B8794"/>
                </a:solidFill>
                <a:latin typeface="Segoe UI" pitchFamily="34" charset="0"/>
                <a:ea typeface="Segoe UI" pitchFamily="34" charset="-122"/>
                <a:cs typeface="Segoe UI" pitchFamily="34" charset="-120"/>
              </a:rPr>
              <a:t>Verification is read back from the live builder rather than trusted from the edit, because a silent write failure looks identical to a successful one.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QUALITY</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Verification performed</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10</a:t>
            </a:r>
            <a:endParaRPr lang="en-US" sz="850" dirty="0"/>
          </a:p>
        </p:txBody>
      </p:sp>
      <p:sp>
        <p:nvSpPr>
          <p:cNvPr id="8" name="Shape 6"/>
          <p:cNvSpPr/>
          <p:nvPr/>
        </p:nvSpPr>
        <p:spPr>
          <a:xfrm>
            <a:off x="566928" y="1600200"/>
            <a:ext cx="2606040" cy="1234440"/>
          </a:xfrm>
          <a:prstGeom prst="roundRect">
            <a:avLst>
              <a:gd name="adj" fmla="val 4444"/>
            </a:avLst>
          </a:prstGeom>
          <a:solidFill>
            <a:srgbClr val="FFFFFF"/>
          </a:solidFill>
          <a:ln w="12700">
            <a:solidFill>
              <a:srgbClr val="D8E0DE"/>
            </a:solidFill>
            <a:prstDash val="solid"/>
          </a:ln>
        </p:spPr>
      </p:sp>
      <p:sp>
        <p:nvSpPr>
          <p:cNvPr id="9" name="Text 7"/>
          <p:cNvSpPr/>
          <p:nvPr/>
        </p:nvSpPr>
        <p:spPr>
          <a:xfrm>
            <a:off x="566928" y="1746504"/>
            <a:ext cx="2606040" cy="475488"/>
          </a:xfrm>
          <a:prstGeom prst="rect">
            <a:avLst/>
          </a:prstGeom>
          <a:noFill/>
          <a:ln/>
        </p:spPr>
        <p:txBody>
          <a:bodyPr wrap="square" rtlCol="0" anchor="ctr"/>
          <a:lstStyle/>
          <a:p>
            <a:pPr algn="ctr" indent="0" marL="0">
              <a:buNone/>
            </a:pPr>
            <a:r>
              <a:rPr lang="en-US" sz="2600" b="1" dirty="0">
                <a:solidFill>
                  <a:srgbClr val="1E7A46"/>
                </a:solidFill>
                <a:latin typeface="Segoe UI" pitchFamily="34" charset="0"/>
                <a:ea typeface="Segoe UI" pitchFamily="34" charset="-122"/>
                <a:cs typeface="Segoe UI" pitchFamily="34" charset="-120"/>
              </a:rPr>
              <a:t>101</a:t>
            </a:r>
            <a:endParaRPr lang="en-US" sz="2600" dirty="0"/>
          </a:p>
        </p:txBody>
      </p:sp>
      <p:sp>
        <p:nvSpPr>
          <p:cNvPr id="10" name="Text 8"/>
          <p:cNvSpPr/>
          <p:nvPr/>
        </p:nvSpPr>
        <p:spPr>
          <a:xfrm>
            <a:off x="658368" y="2240280"/>
            <a:ext cx="2423160" cy="50292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tests passing across 5 files</a:t>
            </a:r>
            <a:endParaRPr lang="en-US" sz="1000" dirty="0"/>
          </a:p>
        </p:txBody>
      </p:sp>
      <p:sp>
        <p:nvSpPr>
          <p:cNvPr id="11" name="Shape 9"/>
          <p:cNvSpPr/>
          <p:nvPr/>
        </p:nvSpPr>
        <p:spPr>
          <a:xfrm>
            <a:off x="3355848" y="1600200"/>
            <a:ext cx="2606040" cy="1234440"/>
          </a:xfrm>
          <a:prstGeom prst="roundRect">
            <a:avLst>
              <a:gd name="adj" fmla="val 4444"/>
            </a:avLst>
          </a:prstGeom>
          <a:solidFill>
            <a:srgbClr val="FFFFFF"/>
          </a:solidFill>
          <a:ln w="12700">
            <a:solidFill>
              <a:srgbClr val="D8E0DE"/>
            </a:solidFill>
            <a:prstDash val="solid"/>
          </a:ln>
        </p:spPr>
      </p:sp>
      <p:sp>
        <p:nvSpPr>
          <p:cNvPr id="12" name="Text 10"/>
          <p:cNvSpPr/>
          <p:nvPr/>
        </p:nvSpPr>
        <p:spPr>
          <a:xfrm>
            <a:off x="3355848" y="1746504"/>
            <a:ext cx="2606040" cy="475488"/>
          </a:xfrm>
          <a:prstGeom prst="rect">
            <a:avLst/>
          </a:prstGeom>
          <a:noFill/>
          <a:ln/>
        </p:spPr>
        <p:txBody>
          <a:bodyPr wrap="square" rtlCol="0" anchor="ctr"/>
          <a:lstStyle/>
          <a:p>
            <a:pPr algn="ctr" indent="0" marL="0">
              <a:buNone/>
            </a:pPr>
            <a:r>
              <a:rPr lang="en-US" sz="2600" b="1" dirty="0">
                <a:solidFill>
                  <a:srgbClr val="15766D"/>
                </a:solidFill>
                <a:latin typeface="Segoe UI" pitchFamily="34" charset="0"/>
                <a:ea typeface="Segoe UI" pitchFamily="34" charset="-122"/>
                <a:cs typeface="Segoe UI" pitchFamily="34" charset="-120"/>
              </a:rPr>
              <a:t>1,892</a:t>
            </a:r>
            <a:endParaRPr lang="en-US" sz="2600" dirty="0"/>
          </a:p>
        </p:txBody>
      </p:sp>
      <p:sp>
        <p:nvSpPr>
          <p:cNvPr id="13" name="Text 11"/>
          <p:cNvSpPr/>
          <p:nvPr/>
        </p:nvSpPr>
        <p:spPr>
          <a:xfrm>
            <a:off x="3447288" y="2240280"/>
            <a:ext cx="2423160" cy="50292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modules built, no errors</a:t>
            </a:r>
            <a:endParaRPr lang="en-US" sz="1000" dirty="0"/>
          </a:p>
        </p:txBody>
      </p:sp>
      <p:sp>
        <p:nvSpPr>
          <p:cNvPr id="14" name="Shape 12"/>
          <p:cNvSpPr/>
          <p:nvPr/>
        </p:nvSpPr>
        <p:spPr>
          <a:xfrm>
            <a:off x="6144768" y="1600200"/>
            <a:ext cx="2606040" cy="1234440"/>
          </a:xfrm>
          <a:prstGeom prst="roundRect">
            <a:avLst>
              <a:gd name="adj" fmla="val 4444"/>
            </a:avLst>
          </a:prstGeom>
          <a:solidFill>
            <a:srgbClr val="FFFFFF"/>
          </a:solidFill>
          <a:ln w="12700">
            <a:solidFill>
              <a:srgbClr val="D8E0DE"/>
            </a:solidFill>
            <a:prstDash val="solid"/>
          </a:ln>
        </p:spPr>
      </p:sp>
      <p:sp>
        <p:nvSpPr>
          <p:cNvPr id="15" name="Text 13"/>
          <p:cNvSpPr/>
          <p:nvPr/>
        </p:nvSpPr>
        <p:spPr>
          <a:xfrm>
            <a:off x="6144768" y="1746504"/>
            <a:ext cx="2606040" cy="475488"/>
          </a:xfrm>
          <a:prstGeom prst="rect">
            <a:avLst/>
          </a:prstGeom>
          <a:noFill/>
          <a:ln/>
        </p:spPr>
        <p:txBody>
          <a:bodyPr wrap="square" rtlCol="0" anchor="ctr"/>
          <a:lstStyle/>
          <a:p>
            <a:pPr algn="ctr" indent="0" marL="0">
              <a:buNone/>
            </a:pPr>
            <a:r>
              <a:rPr lang="en-US" sz="2600" b="1" dirty="0">
                <a:solidFill>
                  <a:srgbClr val="15766D"/>
                </a:solidFill>
                <a:latin typeface="Segoe UI" pitchFamily="34" charset="0"/>
                <a:ea typeface="Segoe UI" pitchFamily="34" charset="-122"/>
                <a:cs typeface="Segoe UI" pitchFamily="34" charset="-120"/>
              </a:rPr>
              <a:t>HTTP 200</a:t>
            </a:r>
            <a:endParaRPr lang="en-US" sz="2600" dirty="0"/>
          </a:p>
        </p:txBody>
      </p:sp>
      <p:sp>
        <p:nvSpPr>
          <p:cNvPr id="16" name="Text 14"/>
          <p:cNvSpPr/>
          <p:nvPr/>
        </p:nvSpPr>
        <p:spPr>
          <a:xfrm>
            <a:off x="6236208" y="2240280"/>
            <a:ext cx="2423160" cy="50292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live deployment verified</a:t>
            </a:r>
            <a:endParaRPr lang="en-US" sz="1000" dirty="0"/>
          </a:p>
        </p:txBody>
      </p:sp>
      <p:sp>
        <p:nvSpPr>
          <p:cNvPr id="17" name="Shape 15"/>
          <p:cNvSpPr/>
          <p:nvPr/>
        </p:nvSpPr>
        <p:spPr>
          <a:xfrm>
            <a:off x="8933688" y="1600200"/>
            <a:ext cx="2688336" cy="1234440"/>
          </a:xfrm>
          <a:prstGeom prst="roundRect">
            <a:avLst>
              <a:gd name="adj" fmla="val 4444"/>
            </a:avLst>
          </a:prstGeom>
          <a:solidFill>
            <a:srgbClr val="FFFFFF"/>
          </a:solidFill>
          <a:ln w="12700">
            <a:solidFill>
              <a:srgbClr val="D8E0DE"/>
            </a:solidFill>
            <a:prstDash val="solid"/>
          </a:ln>
        </p:spPr>
      </p:sp>
      <p:sp>
        <p:nvSpPr>
          <p:cNvPr id="18" name="Text 16"/>
          <p:cNvSpPr/>
          <p:nvPr/>
        </p:nvSpPr>
        <p:spPr>
          <a:xfrm>
            <a:off x="8933688" y="1746504"/>
            <a:ext cx="2688336" cy="475488"/>
          </a:xfrm>
          <a:prstGeom prst="rect">
            <a:avLst/>
          </a:prstGeom>
          <a:noFill/>
          <a:ln/>
        </p:spPr>
        <p:txBody>
          <a:bodyPr wrap="square" rtlCol="0" anchor="ctr"/>
          <a:lstStyle/>
          <a:p>
            <a:pPr algn="ctr" indent="0" marL="0">
              <a:buNone/>
            </a:pPr>
            <a:r>
              <a:rPr lang="en-US" sz="2600" b="1" dirty="0">
                <a:solidFill>
                  <a:srgbClr val="1E7A46"/>
                </a:solidFill>
                <a:latin typeface="Segoe UI" pitchFamily="34" charset="0"/>
                <a:ea typeface="Segoe UI" pitchFamily="34" charset="-122"/>
                <a:cs typeface="Segoe UI" pitchFamily="34" charset="-120"/>
              </a:rPr>
              <a:t>0</a:t>
            </a:r>
            <a:endParaRPr lang="en-US" sz="2600" dirty="0"/>
          </a:p>
        </p:txBody>
      </p:sp>
      <p:sp>
        <p:nvSpPr>
          <p:cNvPr id="19" name="Text 17"/>
          <p:cNvSpPr/>
          <p:nvPr/>
        </p:nvSpPr>
        <p:spPr>
          <a:xfrm>
            <a:off x="9025128" y="2240280"/>
            <a:ext cx="2505456" cy="502920"/>
          </a:xfrm>
          <a:prstGeom prst="rect">
            <a:avLst/>
          </a:prstGeom>
          <a:noFill/>
          <a:ln/>
        </p:spPr>
        <p:txBody>
          <a:bodyPr wrap="square" rtlCol="0" anchor="t"/>
          <a:lstStyle/>
          <a:p>
            <a:pPr algn="ctr" indent="0" marL="0">
              <a:buNone/>
            </a:pPr>
            <a:r>
              <a:rPr lang="en-US" sz="1000" dirty="0">
                <a:solidFill>
                  <a:srgbClr val="7B8794"/>
                </a:solidFill>
                <a:latin typeface="Segoe UI" pitchFamily="34" charset="0"/>
                <a:ea typeface="Segoe UI" pitchFamily="34" charset="-122"/>
                <a:cs typeface="Segoe UI" pitchFamily="34" charset="-120"/>
              </a:rPr>
              <a:t>lint errors (warnings only)</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3154680"/>
          <a:ext cx="11057839" cy="914400"/>
        </p:xfrm>
        <a:graphic>
          <a:graphicData uri="http://schemas.openxmlformats.org/drawingml/2006/table">
            <a:tbl>
              <a:tblPr/>
              <a:tblGrid>
                <a:gridCol w="2468880"/>
                <a:gridCol w="8860536"/>
              </a:tblGrid>
              <a:tr h="384048">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Command</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solidFill>
                      <a:srgbClr val="15766D"/>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Result</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solidFill>
                      <a:srgbClr val="15766D"/>
                    </a:solidFill>
                  </a:tcPr>
                </a:tc>
              </a:tr>
              <a:tr h="384048">
                <a:tc>
                  <a:txBody>
                    <a:bodyPr/>
                    <a:lstStyle/>
                    <a:p>
                      <a:pPr indent="0" marL="0">
                        <a:buNone/>
                      </a:pPr>
                      <a:r>
                        <a:rPr lang="en-US" sz="1100" b="1" dirty="0">
                          <a:solidFill>
                            <a:srgbClr val="12312C"/>
                          </a:solidFill>
                          <a:latin typeface="Consolas" pitchFamily="34" charset="0"/>
                          <a:ea typeface="Consolas" pitchFamily="34" charset="-122"/>
                          <a:cs typeface="Consolas" pitchFamily="34" charset="-120"/>
                        </a:rPr>
                        <a:t>npm run lint</a:t>
                      </a:r>
                      <a:endParaRPr lang="en-US" sz="1100" dirty="0">
                        <a:latin typeface="Consolas" charset="0"/>
                        <a:ea typeface="Consolas" charset="0"/>
                        <a:cs typeface="Consolas"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Clean — warnings only, confined to unused probe variables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84048">
                <a:tc>
                  <a:txBody>
                    <a:bodyPr/>
                    <a:lstStyle/>
                    <a:p>
                      <a:pPr indent="0" marL="0">
                        <a:buNone/>
                      </a:pPr>
                      <a:r>
                        <a:rPr lang="en-US" sz="1100" b="1" dirty="0">
                          <a:solidFill>
                            <a:srgbClr val="12312C"/>
                          </a:solidFill>
                          <a:latin typeface="Consolas" pitchFamily="34" charset="0"/>
                          <a:ea typeface="Consolas" pitchFamily="34" charset="-122"/>
                          <a:cs typeface="Consolas" pitchFamily="34" charset="-120"/>
                        </a:rPr>
                        <a:t>npm test</a:t>
                      </a:r>
                      <a:endParaRPr lang="en-US" sz="1100" dirty="0">
                        <a:latin typeface="Consolas" charset="0"/>
                        <a:ea typeface="Consolas" charset="0"/>
                        <a:cs typeface="Consolas"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101 tests passing across search, dialog, account and store modules</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84048">
                <a:tc>
                  <a:txBody>
                    <a:bodyPr/>
                    <a:lstStyle/>
                    <a:p>
                      <a:pPr indent="0" marL="0">
                        <a:buNone/>
                      </a:pPr>
                      <a:r>
                        <a:rPr lang="en-US" sz="1100" b="1" dirty="0">
                          <a:solidFill>
                            <a:srgbClr val="12312C"/>
                          </a:solidFill>
                          <a:latin typeface="Consolas" pitchFamily="34" charset="0"/>
                          <a:ea typeface="Consolas" pitchFamily="34" charset="-122"/>
                          <a:cs typeface="Consolas" pitchFamily="34" charset="-120"/>
                        </a:rPr>
                        <a:t>npm run build</a:t>
                      </a:r>
                      <a:endParaRPr lang="en-US" sz="1100" dirty="0">
                        <a:latin typeface="Consolas" charset="0"/>
                        <a:ea typeface="Consolas" charset="0"/>
                        <a:cs typeface="Consolas"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Production bundle succeeds, ~490 KB JS (120 KB gzipped)</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84048">
                <a:tc>
                  <a:txBody>
                    <a:bodyPr/>
                    <a:lstStyle/>
                    <a:p>
                      <a:pPr indent="0" marL="0">
                        <a:buNone/>
                      </a:pPr>
                      <a:r>
                        <a:rPr lang="en-US" sz="1100" b="1" dirty="0">
                          <a:solidFill>
                            <a:srgbClr val="12312C"/>
                          </a:solidFill>
                          <a:latin typeface="Consolas" pitchFamily="34" charset="0"/>
                          <a:ea typeface="Consolas" pitchFamily="34" charset="-122"/>
                          <a:cs typeface="Consolas" pitchFamily="34" charset="-120"/>
                        </a:rPr>
                        <a:t>npm run smoke</a:t>
                      </a:r>
                      <a:endParaRPr lang="en-US" sz="1100" dirty="0">
                        <a:latin typeface="Consolas" charset="0"/>
                        <a:ea typeface="Consolas" charset="0"/>
                        <a:cs typeface="Consolas"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Exercises live POST and GET against the MockAPI users resource</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r h="384048">
                <a:tc>
                  <a:txBody>
                    <a:bodyPr/>
                    <a:lstStyle/>
                    <a:p>
                      <a:pPr indent="0" marL="0">
                        <a:buNone/>
                      </a:pPr>
                      <a:r>
                        <a:rPr lang="en-US" sz="1100" b="1" dirty="0">
                          <a:solidFill>
                            <a:srgbClr val="12312C"/>
                          </a:solidFill>
                          <a:latin typeface="Consolas" pitchFamily="34" charset="0"/>
                          <a:ea typeface="Consolas" pitchFamily="34" charset="-122"/>
                          <a:cs typeface="Consolas" pitchFamily="34" charset="-120"/>
                        </a:rPr>
                        <a:t>npm run verify:copy</a:t>
                      </a:r>
                      <a:endParaRPr lang="en-US" sz="1100" dirty="0">
                        <a:latin typeface="Consolas" charset="0"/>
                        <a:ea typeface="Consolas" charset="0"/>
                        <a:cs typeface="Consolas"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c>
                  <a:txBody>
                    <a:bodyPr/>
                    <a:lstStyle/>
                    <a:p>
                      <a:pPr indent="0" marL="0">
                        <a:buNone/>
                      </a:pPr>
                      <a:r>
                        <a:rPr lang="en-US" sz="1100" dirty="0">
                          <a:solidFill>
                            <a:srgbClr val="3E4C59"/>
                          </a:solidFill>
                          <a:latin typeface="Segoe UI" pitchFamily="34" charset="0"/>
                          <a:ea typeface="Segoe UI" pitchFamily="34" charset="-122"/>
                          <a:cs typeface="Segoe UI" pitchFamily="34" charset="-120"/>
                        </a:rPr>
                        <a:t>Reads the required strings back out of the Kore.ai builder</a:t>
                      </a:r>
                      <a:endParaRPr lang="en-US" sz="1100" dirty="0">
                        <a:latin typeface="Segoe UI" charset="0"/>
                        <a:ea typeface="Segoe UI" charset="0"/>
                        <a:cs typeface="Segoe UI" charset="0"/>
                      </a:endParaRPr>
                    </a:p>
                  </a:txBody>
                  <a:tcPr marL="91440" marR="91440" marT="45720" marB="45720" anchor="ctr">
                    <a:lnL w="9525" cap="flat" cmpd="sng" algn="ctr">
                      <a:solidFill>
                        <a:srgbClr val="D8E0DE"/>
                      </a:solidFill>
                      <a:prstDash val="solid"/>
                      <a:round/>
                      <a:headEnd type="none" w="med" len="med"/>
                      <a:tailEnd type="none" w="med" len="med"/>
                    </a:lnL>
                    <a:lnR w="9525" cap="flat" cmpd="sng" algn="ctr">
                      <a:solidFill>
                        <a:srgbClr val="D8E0DE"/>
                      </a:solidFill>
                      <a:prstDash val="solid"/>
                      <a:round/>
                      <a:headEnd type="none" w="med" len="med"/>
                      <a:tailEnd type="none" w="med" len="med"/>
                    </a:lnR>
                    <a:lnT w="9525" cap="flat" cmpd="sng" algn="ctr">
                      <a:solidFill>
                        <a:srgbClr val="D8E0DE"/>
                      </a:solidFill>
                      <a:prstDash val="solid"/>
                      <a:round/>
                      <a:headEnd type="none" w="med" len="med"/>
                      <a:tailEnd type="none" w="med" len="med"/>
                    </a:lnT>
                    <a:lnB w="9525" cap="flat" cmpd="sng" algn="ctr">
                      <a:solidFill>
                        <a:srgbClr val="D8E0DE"/>
                      </a:solidFill>
                      <a:prstDash val="solid"/>
                      <a:round/>
                      <a:headEnd type="none" w="med" len="med"/>
                      <a:tailEnd type="none" w="med" len="med"/>
                    </a:lnB>
                  </a:tcPr>
                </a:tc>
              </a:tr>
            </a:tbl>
          </a:graphicData>
        </a:graphic>
      </p:graphicFrame>
      <p:sp>
        <p:nvSpPr>
          <p:cNvPr id="21" name="Text 18"/>
          <p:cNvSpPr/>
          <p:nvPr/>
        </p:nvSpPr>
        <p:spPr>
          <a:xfrm>
            <a:off x="566928" y="5852160"/>
            <a:ext cx="11057839" cy="365760"/>
          </a:xfrm>
          <a:prstGeom prst="rect">
            <a:avLst/>
          </a:prstGeom>
          <a:noFill/>
          <a:ln/>
        </p:spPr>
        <p:txBody>
          <a:bodyPr wrap="square" rtlCol="0" anchor="ctr"/>
          <a:lstStyle/>
          <a:p>
            <a:pPr indent="0" marL="0">
              <a:buNone/>
            </a:pPr>
            <a:r>
              <a:rPr lang="en-US" sz="1100" i="1" dirty="0">
                <a:solidFill>
                  <a:srgbClr val="7B8794"/>
                </a:solidFill>
                <a:latin typeface="Segoe UI" pitchFamily="34" charset="0"/>
                <a:ea typeface="Segoe UI" pitchFamily="34" charset="-122"/>
                <a:cs typeface="Segoe UI" pitchFamily="34" charset="-120"/>
              </a:rPr>
              <a:t>Registration and login are proven against a live REST endpoint, not mocked, so the wiring is genuinely exercised.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DEPLOYMENT</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Shipped and live</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11</a:t>
            </a:r>
            <a:endParaRPr lang="en-US" sz="850" dirty="0"/>
          </a:p>
        </p:txBody>
      </p:sp>
      <p:sp>
        <p:nvSpPr>
          <p:cNvPr id="8" name="Shape 6"/>
          <p:cNvSpPr/>
          <p:nvPr/>
        </p:nvSpPr>
        <p:spPr>
          <a:xfrm>
            <a:off x="566928" y="1600200"/>
            <a:ext cx="11057839" cy="1371600"/>
          </a:xfrm>
          <a:prstGeom prst="roundRect">
            <a:avLst>
              <a:gd name="adj" fmla="val 4000"/>
            </a:avLst>
          </a:prstGeom>
          <a:solidFill>
            <a:srgbClr val="12312C"/>
          </a:solidFill>
          <a:ln/>
        </p:spPr>
      </p:sp>
      <p:sp>
        <p:nvSpPr>
          <p:cNvPr id="9" name="Text 7"/>
          <p:cNvSpPr/>
          <p:nvPr/>
        </p:nvSpPr>
        <p:spPr>
          <a:xfrm>
            <a:off x="868680" y="1828800"/>
            <a:ext cx="8229600" cy="457200"/>
          </a:xfrm>
          <a:prstGeom prst="rect">
            <a:avLst/>
          </a:prstGeom>
          <a:noFill/>
          <a:ln/>
        </p:spPr>
        <p:txBody>
          <a:bodyPr wrap="square" rtlCol="0" anchor="ctr"/>
          <a:lstStyle/>
          <a:p>
            <a:pPr indent="0" marL="0">
              <a:buNone/>
            </a:pPr>
            <a:r>
              <a:rPr lang="en-US" sz="2600" b="1" dirty="0">
                <a:solidFill>
                  <a:srgbClr val="FFFFFF"/>
                </a:solidFill>
                <a:latin typeface="Segoe UI" pitchFamily="34" charset="0"/>
                <a:ea typeface="Segoe UI" pitchFamily="34" charset="-122"/>
                <a:cs typeface="Segoe UI" pitchFamily="34" charset="-120"/>
              </a:rPr>
              <a:t>https://aicharbot.vercel.app</a:t>
            </a:r>
            <a:endParaRPr lang="en-US" sz="2600" dirty="0"/>
          </a:p>
        </p:txBody>
      </p:sp>
      <p:sp>
        <p:nvSpPr>
          <p:cNvPr id="10" name="Text 8"/>
          <p:cNvSpPr/>
          <p:nvPr/>
        </p:nvSpPr>
        <p:spPr>
          <a:xfrm>
            <a:off x="868680" y="2331720"/>
            <a:ext cx="8229600" cy="320040"/>
          </a:xfrm>
          <a:prstGeom prst="rect">
            <a:avLst/>
          </a:prstGeom>
          <a:noFill/>
          <a:ln/>
        </p:spPr>
        <p:txBody>
          <a:bodyPr wrap="square" rtlCol="0" anchor="ctr"/>
          <a:lstStyle/>
          <a:p>
            <a:pPr indent="0" marL="0">
              <a:buNone/>
            </a:pPr>
            <a:r>
              <a:rPr lang="en-US" sz="1250" dirty="0">
                <a:solidFill>
                  <a:srgbClr val="9FB5B1"/>
                </a:solidFill>
                <a:latin typeface="Segoe UI" pitchFamily="34" charset="0"/>
                <a:ea typeface="Segoe UI" pitchFamily="34" charset="-122"/>
                <a:cs typeface="Segoe UI" pitchFamily="34" charset="-120"/>
              </a:rPr>
              <a:t>Vercel production · public · no login required · verified HTTP 200 with the bundle loading</a:t>
            </a:r>
            <a:endParaRPr lang="en-US" sz="1250" dirty="0"/>
          </a:p>
        </p:txBody>
      </p:sp>
      <p:sp>
        <p:nvSpPr>
          <p:cNvPr id="11" name="Text 9"/>
          <p:cNvSpPr/>
          <p:nvPr/>
        </p:nvSpPr>
        <p:spPr>
          <a:xfrm>
            <a:off x="9448495" y="1993392"/>
            <a:ext cx="2011680" cy="566928"/>
          </a:xfrm>
          <a:prstGeom prst="rect">
            <a:avLst/>
          </a:prstGeom>
          <a:noFill/>
          <a:ln/>
        </p:spPr>
        <p:txBody>
          <a:bodyPr wrap="square" rtlCol="0" anchor="ctr"/>
          <a:lstStyle/>
          <a:p>
            <a:pPr algn="r" indent="0" marL="0">
              <a:buNone/>
            </a:pPr>
            <a:r>
              <a:rPr lang="en-US" sz="2000" b="1" dirty="0">
                <a:solidFill>
                  <a:srgbClr val="15766D"/>
                </a:solidFill>
                <a:latin typeface="Segoe UI" pitchFamily="34" charset="0"/>
                <a:ea typeface="Segoe UI" pitchFamily="34" charset="-122"/>
                <a:cs typeface="Segoe UI" pitchFamily="34" charset="-120"/>
              </a:rPr>
              <a:t>LIVE</a:t>
            </a:r>
            <a:endParaRPr lang="en-US" sz="2000" dirty="0"/>
          </a:p>
        </p:txBody>
      </p:sp>
      <p:sp>
        <p:nvSpPr>
          <p:cNvPr id="12" name="Shape 10"/>
          <p:cNvSpPr/>
          <p:nvPr/>
        </p:nvSpPr>
        <p:spPr>
          <a:xfrm>
            <a:off x="566928" y="3200400"/>
            <a:ext cx="3520440" cy="1554480"/>
          </a:xfrm>
          <a:prstGeom prst="roundRect">
            <a:avLst>
              <a:gd name="adj" fmla="val 3529"/>
            </a:avLst>
          </a:prstGeom>
          <a:solidFill>
            <a:srgbClr val="EFF6F5"/>
          </a:solidFill>
          <a:ln w="12700">
            <a:solidFill>
              <a:srgbClr val="D8E0DE"/>
            </a:solidFill>
            <a:prstDash val="solid"/>
          </a:ln>
        </p:spPr>
      </p:sp>
      <p:sp>
        <p:nvSpPr>
          <p:cNvPr id="13" name="Shape 11"/>
          <p:cNvSpPr/>
          <p:nvPr/>
        </p:nvSpPr>
        <p:spPr>
          <a:xfrm>
            <a:off x="566928" y="3200400"/>
            <a:ext cx="50292" cy="1554480"/>
          </a:xfrm>
          <a:prstGeom prst="rect">
            <a:avLst/>
          </a:prstGeom>
          <a:solidFill>
            <a:srgbClr val="15766D"/>
          </a:solidFill>
          <a:ln/>
        </p:spPr>
      </p:sp>
      <p:sp>
        <p:nvSpPr>
          <p:cNvPr id="14" name="Text 12"/>
          <p:cNvSpPr/>
          <p:nvPr/>
        </p:nvSpPr>
        <p:spPr>
          <a:xfrm>
            <a:off x="768096" y="3346704"/>
            <a:ext cx="3154680"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Host</a:t>
            </a:r>
            <a:endParaRPr lang="en-US" sz="1200" dirty="0"/>
          </a:p>
        </p:txBody>
      </p:sp>
      <p:sp>
        <p:nvSpPr>
          <p:cNvPr id="15" name="Text 13"/>
          <p:cNvSpPr/>
          <p:nvPr/>
        </p:nvSpPr>
        <p:spPr>
          <a:xfrm>
            <a:off x="768096" y="3657600"/>
            <a:ext cx="3154680" cy="969264"/>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Vercel, production build.</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Project aicharbot.</a:t>
            </a:r>
            <a:endParaRPr lang="en-US" sz="1150" dirty="0"/>
          </a:p>
          <a:p>
            <a:pPr indent="0" marL="0">
              <a:buNone/>
            </a:pP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Redeploy: npm run deploy:vercel</a:t>
            </a:r>
            <a:endParaRPr lang="en-US" sz="1150" dirty="0"/>
          </a:p>
        </p:txBody>
      </p:sp>
      <p:sp>
        <p:nvSpPr>
          <p:cNvPr id="16" name="Shape 14"/>
          <p:cNvSpPr/>
          <p:nvPr/>
        </p:nvSpPr>
        <p:spPr>
          <a:xfrm>
            <a:off x="4315968" y="3200400"/>
            <a:ext cx="3520440" cy="1554480"/>
          </a:xfrm>
          <a:prstGeom prst="roundRect">
            <a:avLst>
              <a:gd name="adj" fmla="val 3529"/>
            </a:avLst>
          </a:prstGeom>
          <a:solidFill>
            <a:srgbClr val="EFF6F5"/>
          </a:solidFill>
          <a:ln w="12700">
            <a:solidFill>
              <a:srgbClr val="D8E0DE"/>
            </a:solidFill>
            <a:prstDash val="solid"/>
          </a:ln>
        </p:spPr>
      </p:sp>
      <p:sp>
        <p:nvSpPr>
          <p:cNvPr id="17" name="Shape 15"/>
          <p:cNvSpPr/>
          <p:nvPr/>
        </p:nvSpPr>
        <p:spPr>
          <a:xfrm>
            <a:off x="4315968" y="3200400"/>
            <a:ext cx="50292" cy="1554480"/>
          </a:xfrm>
          <a:prstGeom prst="rect">
            <a:avLst/>
          </a:prstGeom>
          <a:solidFill>
            <a:srgbClr val="15766D"/>
          </a:solidFill>
          <a:ln/>
        </p:spPr>
      </p:sp>
      <p:sp>
        <p:nvSpPr>
          <p:cNvPr id="18" name="Text 16"/>
          <p:cNvSpPr/>
          <p:nvPr/>
        </p:nvSpPr>
        <p:spPr>
          <a:xfrm>
            <a:off x="4517136" y="3346704"/>
            <a:ext cx="3154680"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Build</a:t>
            </a:r>
            <a:endParaRPr lang="en-US" sz="1200" dirty="0"/>
          </a:p>
        </p:txBody>
      </p:sp>
      <p:sp>
        <p:nvSpPr>
          <p:cNvPr id="19" name="Text 17"/>
          <p:cNvSpPr/>
          <p:nvPr/>
        </p:nvSpPr>
        <p:spPr>
          <a:xfrm>
            <a:off x="4517136" y="3657600"/>
            <a:ext cx="3154680" cy="969264"/>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1,892 modules.</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dist JS 490 KB / 120 KB gzipped.</a:t>
            </a:r>
            <a:endParaRPr lang="en-US" sz="1150" dirty="0"/>
          </a:p>
          <a:p>
            <a:pPr indent="0" marL="0">
              <a:buNone/>
            </a:pP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Redeploys build first, so the deployed bundle always matches tested source.</a:t>
            </a:r>
            <a:endParaRPr lang="en-US" sz="1150" dirty="0"/>
          </a:p>
        </p:txBody>
      </p:sp>
      <p:sp>
        <p:nvSpPr>
          <p:cNvPr id="20" name="Shape 18"/>
          <p:cNvSpPr/>
          <p:nvPr/>
        </p:nvSpPr>
        <p:spPr>
          <a:xfrm>
            <a:off x="8101584" y="3200400"/>
            <a:ext cx="3520440" cy="1554480"/>
          </a:xfrm>
          <a:prstGeom prst="roundRect">
            <a:avLst>
              <a:gd name="adj" fmla="val 3529"/>
            </a:avLst>
          </a:prstGeom>
          <a:solidFill>
            <a:srgbClr val="EFF6F5"/>
          </a:solidFill>
          <a:ln w="12700">
            <a:solidFill>
              <a:srgbClr val="D8E0DE"/>
            </a:solidFill>
            <a:prstDash val="solid"/>
          </a:ln>
        </p:spPr>
      </p:sp>
      <p:sp>
        <p:nvSpPr>
          <p:cNvPr id="21" name="Shape 19"/>
          <p:cNvSpPr/>
          <p:nvPr/>
        </p:nvSpPr>
        <p:spPr>
          <a:xfrm>
            <a:off x="8101584" y="3200400"/>
            <a:ext cx="50292" cy="1554480"/>
          </a:xfrm>
          <a:prstGeom prst="rect">
            <a:avLst/>
          </a:prstGeom>
          <a:solidFill>
            <a:srgbClr val="15766D"/>
          </a:solidFill>
          <a:ln/>
        </p:spPr>
      </p:sp>
      <p:sp>
        <p:nvSpPr>
          <p:cNvPr id="22" name="Text 20"/>
          <p:cNvSpPr/>
          <p:nvPr/>
        </p:nvSpPr>
        <p:spPr>
          <a:xfrm>
            <a:off x="8302752" y="3346704"/>
            <a:ext cx="3154680"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Also available</a:t>
            </a:r>
            <a:endParaRPr lang="en-US" sz="1200" dirty="0"/>
          </a:p>
        </p:txBody>
      </p:sp>
      <p:sp>
        <p:nvSpPr>
          <p:cNvPr id="23" name="Text 21"/>
          <p:cNvSpPr/>
          <p:nvPr/>
        </p:nvSpPr>
        <p:spPr>
          <a:xfrm>
            <a:off x="8302752" y="3657600"/>
            <a:ext cx="3154680" cy="969264"/>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Local dev :5173</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Production preview :4173</a:t>
            </a: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LAN http://192.168.0.111:4173</a:t>
            </a:r>
            <a:endParaRPr lang="en-US" sz="1150" dirty="0"/>
          </a:p>
          <a:p>
            <a:pPr indent="0" marL="0">
              <a:buNone/>
            </a:pPr>
            <a:endParaRPr lang="en-US" sz="1150" dirty="0"/>
          </a:p>
          <a:p>
            <a:pPr indent="0" marL="0">
              <a:buNone/>
            </a:pPr>
            <a:r>
              <a:rPr lang="en-US" sz="1150" dirty="0">
                <a:solidFill>
                  <a:srgbClr val="3E4C59"/>
                </a:solidFill>
                <a:latin typeface="Segoe UI" pitchFamily="34" charset="0"/>
                <a:ea typeface="Segoe UI" pitchFamily="34" charset="-122"/>
                <a:cs typeface="Segoe UI" pitchFamily="34" charset="-120"/>
              </a:rPr>
              <a:t>Netlify is a configured fallback path.</a:t>
            </a:r>
            <a:endParaRPr lang="en-US" sz="1150" dirty="0"/>
          </a:p>
        </p:txBody>
      </p:sp>
      <p:sp>
        <p:nvSpPr>
          <p:cNvPr id="24" name="Text 22"/>
          <p:cNvSpPr/>
          <p:nvPr/>
        </p:nvSpPr>
        <p:spPr>
          <a:xfrm>
            <a:off x="566928" y="5029200"/>
            <a:ext cx="11057839" cy="457200"/>
          </a:xfrm>
          <a:prstGeom prst="rect">
            <a:avLst/>
          </a:prstGeom>
          <a:noFill/>
          <a:ln/>
        </p:spPr>
        <p:txBody>
          <a:bodyPr wrap="square" rtlCol="0" anchor="ctr"/>
          <a:lstStyle/>
          <a:p>
            <a:pPr indent="0" marL="0">
              <a:buNone/>
            </a:pPr>
            <a:r>
              <a:rPr lang="en-US" sz="1150" i="1" dirty="0">
                <a:solidFill>
                  <a:srgbClr val="7B8794"/>
                </a:solidFill>
                <a:latin typeface="Segoe UI" pitchFamily="34" charset="0"/>
                <a:ea typeface="Segoe UI" pitchFamily="34" charset="-122"/>
                <a:cs typeface="Segoe UI" pitchFamily="34" charset="-120"/>
              </a:rPr>
              <a:t>The local app is retained deliberately as a working fallback, so a Kore.ai platform regression never leaves nothing demonstrable.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CHANNELS</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Where the assistant is reachable</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12</a:t>
            </a:r>
            <a:endParaRPr lang="en-US" sz="850" dirty="0"/>
          </a:p>
        </p:txBody>
      </p:sp>
      <p:sp>
        <p:nvSpPr>
          <p:cNvPr id="8" name="Shape 6"/>
          <p:cNvSpPr/>
          <p:nvPr/>
        </p:nvSpPr>
        <p:spPr>
          <a:xfrm>
            <a:off x="566928" y="1600200"/>
            <a:ext cx="3548786" cy="2651760"/>
          </a:xfrm>
          <a:prstGeom prst="roundRect">
            <a:avLst>
              <a:gd name="adj" fmla="val 2069"/>
            </a:avLst>
          </a:prstGeom>
          <a:solidFill>
            <a:srgbClr val="FFFFFF"/>
          </a:solidFill>
          <a:ln w="12700">
            <a:solidFill>
              <a:srgbClr val="D8E0DE"/>
            </a:solidFill>
            <a:prstDash val="solid"/>
          </a:ln>
        </p:spPr>
      </p:sp>
      <p:sp>
        <p:nvSpPr>
          <p:cNvPr id="9" name="Shape 7"/>
          <p:cNvSpPr/>
          <p:nvPr/>
        </p:nvSpPr>
        <p:spPr>
          <a:xfrm>
            <a:off x="566928" y="1600200"/>
            <a:ext cx="3548786" cy="50292"/>
          </a:xfrm>
          <a:prstGeom prst="rect">
            <a:avLst/>
          </a:prstGeom>
          <a:solidFill>
            <a:srgbClr val="1E7A46"/>
          </a:solidFill>
          <a:ln/>
        </p:spPr>
      </p:sp>
      <p:sp>
        <p:nvSpPr>
          <p:cNvPr id="10" name="Text 8"/>
          <p:cNvSpPr/>
          <p:nvPr/>
        </p:nvSpPr>
        <p:spPr>
          <a:xfrm>
            <a:off x="795528" y="1828800"/>
            <a:ext cx="3091586" cy="320040"/>
          </a:xfrm>
          <a:prstGeom prst="rect">
            <a:avLst/>
          </a:prstGeom>
          <a:noFill/>
          <a:ln/>
        </p:spPr>
        <p:txBody>
          <a:bodyPr wrap="square" rtlCol="0" anchor="ctr"/>
          <a:lstStyle/>
          <a:p>
            <a:pPr indent="0" marL="0">
              <a:buNone/>
            </a:pPr>
            <a:r>
              <a:rPr lang="en-US" sz="1700" b="1" dirty="0">
                <a:solidFill>
                  <a:srgbClr val="12312C"/>
                </a:solidFill>
                <a:latin typeface="Segoe UI" pitchFamily="34" charset="0"/>
                <a:ea typeface="Segoe UI" pitchFamily="34" charset="-122"/>
                <a:cs typeface="Segoe UI" pitchFamily="34" charset="-120"/>
              </a:rPr>
              <a:t>Web</a:t>
            </a:r>
            <a:endParaRPr lang="en-US" sz="1700" dirty="0"/>
          </a:p>
        </p:txBody>
      </p:sp>
      <p:sp>
        <p:nvSpPr>
          <p:cNvPr id="11" name="Text 9"/>
          <p:cNvSpPr/>
          <p:nvPr/>
        </p:nvSpPr>
        <p:spPr>
          <a:xfrm>
            <a:off x="795528" y="2212848"/>
            <a:ext cx="3091586" cy="274320"/>
          </a:xfrm>
          <a:prstGeom prst="rect">
            <a:avLst/>
          </a:prstGeom>
          <a:noFill/>
          <a:ln/>
        </p:spPr>
        <p:txBody>
          <a:bodyPr wrap="square" rtlCol="0" anchor="ctr"/>
          <a:lstStyle/>
          <a:p>
            <a:pPr indent="0" marL="0">
              <a:buNone/>
            </a:pPr>
            <a:r>
              <a:rPr lang="en-US" sz="1100" b="1" dirty="0">
                <a:solidFill>
                  <a:srgbClr val="1E7A46"/>
                </a:solidFill>
                <a:latin typeface="Segoe UI" pitchFamily="34" charset="0"/>
                <a:ea typeface="Segoe UI" pitchFamily="34" charset="-122"/>
                <a:cs typeface="Segoe UI" pitchFamily="34" charset="-120"/>
              </a:rPr>
              <a:t>deliverable in this repository</a:t>
            </a:r>
            <a:endParaRPr lang="en-US" sz="1100" dirty="0"/>
          </a:p>
        </p:txBody>
      </p:sp>
      <p:sp>
        <p:nvSpPr>
          <p:cNvPr id="12" name="Text 10"/>
          <p:cNvSpPr/>
          <p:nvPr/>
        </p:nvSpPr>
        <p:spPr>
          <a:xfrm>
            <a:off x="795528" y="2560320"/>
            <a:ext cx="3091586" cy="1463040"/>
          </a:xfrm>
          <a:prstGeom prst="rect">
            <a:avLst/>
          </a:prstGeom>
          <a:noFill/>
          <a:ln/>
        </p:spPr>
        <p:txBody>
          <a:bodyPr wrap="square" rtlCol="0" anchor="ctr"/>
          <a:lstStyle/>
          <a:p>
            <a:pPr indent="0" marL="0">
              <a:buNone/>
            </a:pPr>
            <a:r>
              <a:rPr lang="en-US" sz="1100" dirty="0">
                <a:solidFill>
                  <a:srgbClr val="3E4C59"/>
                </a:solidFill>
                <a:latin typeface="Segoe UI" pitchFamily="34" charset="0"/>
                <a:ea typeface="Segoe UI" pitchFamily="34" charset="-122"/>
                <a:cs typeface="Segoe UI" pitchFamily="34" charset="-120"/>
              </a:rPr>
              <a:t>Vite web client implementing the same dialog tasks.</a:t>
            </a:r>
            <a:endParaRPr lang="en-US" sz="1100" dirty="0"/>
          </a:p>
        </p:txBody>
      </p:sp>
      <p:sp>
        <p:nvSpPr>
          <p:cNvPr id="13" name="Shape 11"/>
          <p:cNvSpPr/>
          <p:nvPr/>
        </p:nvSpPr>
        <p:spPr>
          <a:xfrm>
            <a:off x="4321454" y="1600200"/>
            <a:ext cx="3548786" cy="2651760"/>
          </a:xfrm>
          <a:prstGeom prst="roundRect">
            <a:avLst>
              <a:gd name="adj" fmla="val 2069"/>
            </a:avLst>
          </a:prstGeom>
          <a:solidFill>
            <a:srgbClr val="FFFFFF"/>
          </a:solidFill>
          <a:ln w="12700">
            <a:solidFill>
              <a:srgbClr val="D8E0DE"/>
            </a:solidFill>
            <a:prstDash val="solid"/>
          </a:ln>
        </p:spPr>
      </p:sp>
      <p:sp>
        <p:nvSpPr>
          <p:cNvPr id="14" name="Shape 12"/>
          <p:cNvSpPr/>
          <p:nvPr/>
        </p:nvSpPr>
        <p:spPr>
          <a:xfrm>
            <a:off x="4321454" y="1600200"/>
            <a:ext cx="3548786" cy="50292"/>
          </a:xfrm>
          <a:prstGeom prst="rect">
            <a:avLst/>
          </a:prstGeom>
          <a:solidFill>
            <a:srgbClr val="1E7A46"/>
          </a:solidFill>
          <a:ln/>
        </p:spPr>
      </p:sp>
      <p:sp>
        <p:nvSpPr>
          <p:cNvPr id="15" name="Text 13"/>
          <p:cNvSpPr/>
          <p:nvPr/>
        </p:nvSpPr>
        <p:spPr>
          <a:xfrm>
            <a:off x="4550054" y="1828800"/>
            <a:ext cx="3091586" cy="320040"/>
          </a:xfrm>
          <a:prstGeom prst="rect">
            <a:avLst/>
          </a:prstGeom>
          <a:noFill/>
          <a:ln/>
        </p:spPr>
        <p:txBody>
          <a:bodyPr wrap="square" rtlCol="0" anchor="ctr"/>
          <a:lstStyle/>
          <a:p>
            <a:pPr indent="0" marL="0">
              <a:buNone/>
            </a:pPr>
            <a:r>
              <a:rPr lang="en-US" sz="1700" b="1" dirty="0">
                <a:solidFill>
                  <a:srgbClr val="12312C"/>
                </a:solidFill>
                <a:latin typeface="Segoe UI" pitchFamily="34" charset="0"/>
                <a:ea typeface="Segoe UI" pitchFamily="34" charset="-122"/>
                <a:cs typeface="Segoe UI" pitchFamily="34" charset="-120"/>
              </a:rPr>
              <a:t>Telegram</a:t>
            </a:r>
            <a:endParaRPr lang="en-US" sz="1700" dirty="0"/>
          </a:p>
        </p:txBody>
      </p:sp>
      <p:sp>
        <p:nvSpPr>
          <p:cNvPr id="16" name="Text 14"/>
          <p:cNvSpPr/>
          <p:nvPr/>
        </p:nvSpPr>
        <p:spPr>
          <a:xfrm>
            <a:off x="4550054" y="2212848"/>
            <a:ext cx="3091586" cy="274320"/>
          </a:xfrm>
          <a:prstGeom prst="rect">
            <a:avLst/>
          </a:prstGeom>
          <a:noFill/>
          <a:ln/>
        </p:spPr>
        <p:txBody>
          <a:bodyPr wrap="square" rtlCol="0" anchor="ctr"/>
          <a:lstStyle/>
          <a:p>
            <a:pPr indent="0" marL="0">
              <a:buNone/>
            </a:pPr>
            <a:r>
              <a:rPr lang="en-US" sz="1100" b="1" dirty="0">
                <a:solidFill>
                  <a:srgbClr val="1E7A46"/>
                </a:solidFill>
                <a:latin typeface="Segoe UI" pitchFamily="34" charset="0"/>
                <a:ea typeface="Segoe UI" pitchFamily="34" charset="-122"/>
                <a:cs typeface="Segoe UI" pitchFamily="34" charset="-120"/>
              </a:rPr>
              <a:t>configured in Kore.ai</a:t>
            </a:r>
            <a:endParaRPr lang="en-US" sz="1100" dirty="0"/>
          </a:p>
        </p:txBody>
      </p:sp>
      <p:sp>
        <p:nvSpPr>
          <p:cNvPr id="17" name="Text 15"/>
          <p:cNvSpPr/>
          <p:nvPr/>
        </p:nvSpPr>
        <p:spPr>
          <a:xfrm>
            <a:off x="4550054" y="2560320"/>
            <a:ext cx="3091586" cy="1463040"/>
          </a:xfrm>
          <a:prstGeom prst="rect">
            <a:avLst/>
          </a:prstGeom>
          <a:noFill/>
          <a:ln/>
        </p:spPr>
        <p:txBody>
          <a:bodyPr wrap="square" rtlCol="0" anchor="ctr"/>
          <a:lstStyle/>
          <a:p>
            <a:pPr indent="0" marL="0">
              <a:buNone/>
            </a:pPr>
            <a:r>
              <a:rPr lang="en-US" sz="1100" dirty="0">
                <a:solidFill>
                  <a:srgbClr val="3E4C59"/>
                </a:solidFill>
                <a:latin typeface="Segoe UI" pitchFamily="34" charset="0"/>
                <a:ea typeface="Segoe UI" pitchFamily="34" charset="-122"/>
                <a:cs typeface="Segoe UI" pitchFamily="34" charset="-120"/>
              </a:rPr>
              <a:t>BotFather token stored only in Kore.ai; publish the version containing these dialog tasks.</a:t>
            </a:r>
            <a:endParaRPr lang="en-US" sz="1100" dirty="0"/>
          </a:p>
        </p:txBody>
      </p:sp>
      <p:sp>
        <p:nvSpPr>
          <p:cNvPr id="18" name="Shape 16"/>
          <p:cNvSpPr/>
          <p:nvPr/>
        </p:nvSpPr>
        <p:spPr>
          <a:xfrm>
            <a:off x="8075981" y="1600200"/>
            <a:ext cx="3548786" cy="2651760"/>
          </a:xfrm>
          <a:prstGeom prst="roundRect">
            <a:avLst>
              <a:gd name="adj" fmla="val 2069"/>
            </a:avLst>
          </a:prstGeom>
          <a:solidFill>
            <a:srgbClr val="FFFFFF"/>
          </a:solidFill>
          <a:ln w="12700">
            <a:solidFill>
              <a:srgbClr val="D8E0DE"/>
            </a:solidFill>
            <a:prstDash val="solid"/>
          </a:ln>
        </p:spPr>
      </p:sp>
      <p:sp>
        <p:nvSpPr>
          <p:cNvPr id="19" name="Shape 17"/>
          <p:cNvSpPr/>
          <p:nvPr/>
        </p:nvSpPr>
        <p:spPr>
          <a:xfrm>
            <a:off x="8075981" y="1600200"/>
            <a:ext cx="3548786" cy="50292"/>
          </a:xfrm>
          <a:prstGeom prst="rect">
            <a:avLst/>
          </a:prstGeom>
          <a:solidFill>
            <a:srgbClr val="C0392B"/>
          </a:solidFill>
          <a:ln/>
        </p:spPr>
      </p:sp>
      <p:sp>
        <p:nvSpPr>
          <p:cNvPr id="20" name="Text 18"/>
          <p:cNvSpPr/>
          <p:nvPr/>
        </p:nvSpPr>
        <p:spPr>
          <a:xfrm>
            <a:off x="8304581" y="1828800"/>
            <a:ext cx="3091586" cy="320040"/>
          </a:xfrm>
          <a:prstGeom prst="rect">
            <a:avLst/>
          </a:prstGeom>
          <a:noFill/>
          <a:ln/>
        </p:spPr>
        <p:txBody>
          <a:bodyPr wrap="square" rtlCol="0" anchor="ctr"/>
          <a:lstStyle/>
          <a:p>
            <a:pPr indent="0" marL="0">
              <a:buNone/>
            </a:pPr>
            <a:r>
              <a:rPr lang="en-US" sz="1700" b="1" dirty="0">
                <a:solidFill>
                  <a:srgbClr val="12312C"/>
                </a:solidFill>
                <a:latin typeface="Segoe UI" pitchFamily="34" charset="0"/>
                <a:ea typeface="Segoe UI" pitchFamily="34" charset="-122"/>
                <a:cs typeface="Segoe UI" pitchFamily="34" charset="-120"/>
              </a:rPr>
              <a:t>WhatsApp</a:t>
            </a:r>
            <a:endParaRPr lang="en-US" sz="1700" dirty="0"/>
          </a:p>
        </p:txBody>
      </p:sp>
      <p:sp>
        <p:nvSpPr>
          <p:cNvPr id="21" name="Text 19"/>
          <p:cNvSpPr/>
          <p:nvPr/>
        </p:nvSpPr>
        <p:spPr>
          <a:xfrm>
            <a:off x="8304581" y="2212848"/>
            <a:ext cx="3091586" cy="274320"/>
          </a:xfrm>
          <a:prstGeom prst="rect">
            <a:avLst/>
          </a:prstGeom>
          <a:noFill/>
          <a:ln/>
        </p:spPr>
        <p:txBody>
          <a:bodyPr wrap="square" rtlCol="0" anchor="ctr"/>
          <a:lstStyle/>
          <a:p>
            <a:pPr indent="0" marL="0">
              <a:buNone/>
            </a:pPr>
            <a:r>
              <a:rPr lang="en-US" sz="1100" b="1" dirty="0">
                <a:solidFill>
                  <a:srgbClr val="C0392B"/>
                </a:solidFill>
                <a:latin typeface="Segoe UI" pitchFamily="34" charset="0"/>
                <a:ea typeface="Segoe UI" pitchFamily="34" charset="-122"/>
                <a:cs typeface="Segoe UI" pitchFamily="34" charset="-120"/>
              </a:rPr>
              <a:t>blocked</a:t>
            </a:r>
            <a:endParaRPr lang="en-US" sz="1100" dirty="0"/>
          </a:p>
        </p:txBody>
      </p:sp>
      <p:sp>
        <p:nvSpPr>
          <p:cNvPr id="22" name="Text 20"/>
          <p:cNvSpPr/>
          <p:nvPr/>
        </p:nvSpPr>
        <p:spPr>
          <a:xfrm>
            <a:off x="8304581" y="2560320"/>
            <a:ext cx="3091586" cy="1463040"/>
          </a:xfrm>
          <a:prstGeom prst="rect">
            <a:avLst/>
          </a:prstGeom>
          <a:noFill/>
          <a:ln/>
        </p:spPr>
        <p:txBody>
          <a:bodyPr wrap="square" rtlCol="0" anchor="ctr"/>
          <a:lstStyle/>
          <a:p>
            <a:pPr indent="0" marL="0">
              <a:buNone/>
            </a:pPr>
            <a:r>
              <a:rPr lang="en-US" sz="1100" dirty="0">
                <a:solidFill>
                  <a:srgbClr val="3E4C59"/>
                </a:solidFill>
                <a:latin typeface="Segoe UI" pitchFamily="34" charset="0"/>
                <a:ea typeface="Segoe UI" pitchFamily="34" charset="-122"/>
                <a:cs typeface="Segoe UI" pitchFamily="34" charset="-120"/>
              </a:rPr>
              <a:t>Requires Meta Business verification and a verified phone number owned by the project owner.</a:t>
            </a:r>
            <a:endParaRPr lang="en-US" sz="1100" dirty="0"/>
          </a:p>
        </p:txBody>
      </p:sp>
      <p:sp>
        <p:nvSpPr>
          <p:cNvPr id="23" name="Text 21"/>
          <p:cNvSpPr/>
          <p:nvPr/>
        </p:nvSpPr>
        <p:spPr>
          <a:xfrm>
            <a:off x="566928" y="4526280"/>
            <a:ext cx="11057839" cy="1737360"/>
          </a:xfrm>
          <a:prstGeom prst="rect">
            <a:avLst/>
          </a:prstGeom>
          <a:noFill/>
          <a:ln/>
        </p:spPr>
        <p:txBody>
          <a:bodyPr wrap="square" rtlCol="0" anchor="t"/>
          <a:lstStyle/>
          <a:p>
            <a:pPr marL="342900" indent="-342900">
              <a:spcAft>
                <a:spcPts val="1000"/>
              </a:spcAft>
              <a:buSzPct val="100000"/>
              <a:buChar char="•"/>
            </a:pPr>
            <a:r>
              <a:rPr lang="en-US" sz="1250" dirty="0">
                <a:solidFill>
                  <a:srgbClr val="3E4C59"/>
                </a:solidFill>
                <a:latin typeface="Segoe UI" pitchFamily="34" charset="0"/>
                <a:ea typeface="Segoe UI" pitchFamily="34" charset="-122"/>
                <a:cs typeface="Segoe UI" pitchFamily="34" charset="-120"/>
              </a:rPr>
              <a:t>Telegram bot: https://t.me/PronixAIChatbotSandeepBot — channel enabled against bot PronixAIChatbotSandeepBot.</a:t>
            </a:r>
            <a:endParaRPr lang="en-US" sz="1250" dirty="0"/>
          </a:p>
          <a:p>
            <a:pPr marL="342900" indent="-342900">
              <a:spcAft>
                <a:spcPts val="1000"/>
              </a:spcAft>
              <a:buSzPct val="100000"/>
              <a:buChar char="•"/>
            </a:pPr>
            <a:r>
              <a:rPr lang="en-US" sz="1250" dirty="0">
                <a:solidFill>
                  <a:srgbClr val="3E4C59"/>
                </a:solidFill>
                <a:latin typeface="Segoe UI" pitchFamily="34" charset="0"/>
                <a:ea typeface="Segoe UI" pitchFamily="34" charset="-122"/>
                <a:cs typeface="Segoe UI" pitchFamily="34" charset="-120"/>
              </a:rPr>
              <a:t>Bot tokens are stored only inside Kore.ai. No channel credential is written into this repository or into any generated output.</a:t>
            </a:r>
            <a:endParaRPr lang="en-US" sz="1250" dirty="0"/>
          </a:p>
          <a:p>
            <a:pPr marL="342900" indent="-342900">
              <a:spcAft>
                <a:spcPts val="1000"/>
              </a:spcAft>
              <a:buSzPct val="100000"/>
              <a:buChar char="•"/>
            </a:pPr>
            <a:r>
              <a:rPr lang="en-US" sz="1250" dirty="0">
                <a:solidFill>
                  <a:srgbClr val="3E4C59"/>
                </a:solidFill>
                <a:latin typeface="Segoe UI" pitchFamily="34" charset="0"/>
                <a:ea typeface="Segoe UI" pitchFamily="34" charset="-122"/>
                <a:cs typeface="Segoe UI" pitchFamily="34" charset="-120"/>
              </a:rPr>
              <a:t>Monitoring covers 12 event types across intent, question, sentiment, search-hit, fallback, authentication, account, error and handoff.</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CONSTRAINTS</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What the Kore.ai builder would not allow</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13</a:t>
            </a:r>
            <a:endParaRPr lang="en-US" sz="850" dirty="0"/>
          </a:p>
        </p:txBody>
      </p:sp>
      <p:sp>
        <p:nvSpPr>
          <p:cNvPr id="8" name="Text 6"/>
          <p:cNvSpPr/>
          <p:nvPr/>
        </p:nvSpPr>
        <p:spPr>
          <a:xfrm>
            <a:off x="566928" y="1572768"/>
            <a:ext cx="11057839" cy="3108960"/>
          </a:xfrm>
          <a:prstGeom prst="rect">
            <a:avLst/>
          </a:prstGeom>
          <a:noFill/>
          <a:ln/>
        </p:spPr>
        <p:txBody>
          <a:bodyPr wrap="square" rtlCol="0" anchor="t"/>
          <a:lstStyle/>
          <a:p>
            <a:pPr marL="342900" indent="-342900">
              <a:spcAft>
                <a:spcPts val="1100"/>
              </a:spcAft>
              <a:buSzPct val="100000"/>
              <a:buChar char="•"/>
            </a:pPr>
            <a:r>
              <a:rPr lang="en-US" sz="1350" dirty="0">
                <a:solidFill>
                  <a:srgbClr val="3E4C59"/>
                </a:solidFill>
                <a:latin typeface="Segoe UI" pitchFamily="34" charset="0"/>
                <a:ea typeface="Segoe UI" pitchFamily="34" charset="-122"/>
                <a:cs typeface="Segoe UI" pitchFamily="34" charset="-120"/>
              </a:rPr>
              <a:t>Component PUT returns HTTP 200 but silently discards the message text — a write that reports success and changes nothing.</a:t>
            </a:r>
            <a:endParaRPr lang="en-US" sz="1350" dirty="0"/>
          </a:p>
          <a:p>
            <a:pPr marL="342900" indent="-342900">
              <a:spcAft>
                <a:spcPts val="1100"/>
              </a:spcAft>
              <a:buSzPct val="100000"/>
              <a:buChar char="•"/>
            </a:pPr>
            <a:r>
              <a:rPr lang="en-US" sz="1350" dirty="0">
                <a:solidFill>
                  <a:srgbClr val="3E4C59"/>
                </a:solidFill>
                <a:latin typeface="Segoe UI" pitchFamily="34" charset="0"/>
                <a:ea typeface="Segoe UI" pitchFamily="34" charset="-122"/>
                <a:cs typeface="Segoe UI" pitchFamily="34" charset="-120"/>
              </a:rPr>
              <a:t>Dialog create and update endpoints return 412, so dialog content could not be changed programmatically.</a:t>
            </a:r>
            <a:endParaRPr lang="en-US" sz="1350" dirty="0"/>
          </a:p>
          <a:p>
            <a:pPr marL="342900" indent="-342900">
              <a:spcAft>
                <a:spcPts val="1100"/>
              </a:spcAft>
              <a:buSzPct val="100000"/>
              <a:buChar char="•"/>
            </a:pPr>
            <a:r>
              <a:rPr lang="en-US" sz="1350" dirty="0">
                <a:solidFill>
                  <a:srgbClr val="3E4C59"/>
                </a:solidFill>
                <a:latin typeface="Segoe UI" pitchFamily="34" charset="0"/>
                <a:ea typeface="Segoe UI" pitchFamily="34" charset="-122"/>
                <a:cs typeface="Segoe UI" pitchFamily="34" charset="-120"/>
              </a:rPr>
              <a:t>Call-flow message routes return 412, including immediately after the flow was drafted.</a:t>
            </a:r>
            <a:endParaRPr lang="en-US" sz="1350" dirty="0"/>
          </a:p>
          <a:p>
            <a:pPr marL="342900" indent="-342900">
              <a:spcAft>
                <a:spcPts val="1100"/>
              </a:spcAft>
              <a:buSzPct val="100000"/>
              <a:buChar char="•"/>
            </a:pPr>
            <a:r>
              <a:rPr lang="en-US" sz="1350" dirty="0">
                <a:solidFill>
                  <a:srgbClr val="3E4C59"/>
                </a:solidFill>
                <a:latin typeface="Segoe UI" pitchFamily="34" charset="0"/>
                <a:ea typeface="Segoe UI" pitchFamily="34" charset="-122"/>
                <a:cs typeface="Segoe UI" pitchFamily="34" charset="-120"/>
              </a:rPr>
              <a:t>Published dialog components are immutable, and the unpublish route rejects with a platform privilege limit.</a:t>
            </a:r>
            <a:endParaRPr lang="en-US" sz="1350" dirty="0"/>
          </a:p>
          <a:p>
            <a:pPr marL="342900" indent="-342900">
              <a:spcAft>
                <a:spcPts val="1100"/>
              </a:spcAft>
              <a:buSzPct val="100000"/>
              <a:buChar char="•"/>
            </a:pPr>
            <a:r>
              <a:rPr lang="en-US" sz="1350" dirty="0">
                <a:solidFill>
                  <a:srgbClr val="3E4C59"/>
                </a:solidFill>
                <a:latin typeface="Segoe UI" pitchFamily="34" charset="0"/>
                <a:ea typeface="Segoe UI" pitchFamily="34" charset="-122"/>
                <a:cs typeface="Segoe UI" pitchFamily="34" charset="-120"/>
              </a:rPr>
              <a:t>Publish and unpublish routes fail with the documented 400 errors.</a:t>
            </a:r>
            <a:endParaRPr lang="en-US" sz="1350" dirty="0"/>
          </a:p>
          <a:p>
            <a:pPr marL="342900" indent="-342900">
              <a:spcAft>
                <a:spcPts val="1100"/>
              </a:spcAft>
              <a:buSzPct val="100000"/>
              <a:buChar char="•"/>
            </a:pPr>
            <a:r>
              <a:rPr lang="en-US" sz="1350" dirty="0">
                <a:solidFill>
                  <a:srgbClr val="3E4C59"/>
                </a:solidFill>
                <a:latin typeface="Segoe UI" pitchFamily="34" charset="0"/>
                <a:ea typeface="Segoe UI" pitchFamily="34" charset="-122"/>
                <a:cs typeface="Segoe UI" pitchFamily="34" charset="-120"/>
              </a:rPr>
              <a:t>No usable intent, Search AI collection or resource-save API surface was discoverable, so those require manual configuration.</a:t>
            </a:r>
            <a:endParaRPr lang="en-US" sz="1350" dirty="0"/>
          </a:p>
        </p:txBody>
      </p:sp>
      <p:sp>
        <p:nvSpPr>
          <p:cNvPr id="9" name="Shape 7"/>
          <p:cNvSpPr/>
          <p:nvPr/>
        </p:nvSpPr>
        <p:spPr>
          <a:xfrm>
            <a:off x="566928" y="4754880"/>
            <a:ext cx="11057839" cy="1234440"/>
          </a:xfrm>
          <a:prstGeom prst="roundRect">
            <a:avLst>
              <a:gd name="adj" fmla="val 4444"/>
            </a:avLst>
          </a:prstGeom>
          <a:solidFill>
            <a:srgbClr val="EFF6F5"/>
          </a:solidFill>
          <a:ln w="12700">
            <a:solidFill>
              <a:srgbClr val="D8E0DE"/>
            </a:solidFill>
            <a:prstDash val="solid"/>
          </a:ln>
        </p:spPr>
      </p:sp>
      <p:sp>
        <p:nvSpPr>
          <p:cNvPr id="10" name="Shape 8"/>
          <p:cNvSpPr/>
          <p:nvPr/>
        </p:nvSpPr>
        <p:spPr>
          <a:xfrm>
            <a:off x="566928" y="4754880"/>
            <a:ext cx="50292" cy="1234440"/>
          </a:xfrm>
          <a:prstGeom prst="rect">
            <a:avLst/>
          </a:prstGeom>
          <a:solidFill>
            <a:srgbClr val="15766D"/>
          </a:solidFill>
          <a:ln/>
        </p:spPr>
      </p:sp>
      <p:sp>
        <p:nvSpPr>
          <p:cNvPr id="11" name="Text 9"/>
          <p:cNvSpPr/>
          <p:nvPr/>
        </p:nvSpPr>
        <p:spPr>
          <a:xfrm>
            <a:off x="768096" y="4901184"/>
            <a:ext cx="10692079"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How I handled it</a:t>
            </a:r>
            <a:endParaRPr lang="en-US" sz="1200" dirty="0"/>
          </a:p>
        </p:txBody>
      </p:sp>
      <p:sp>
        <p:nvSpPr>
          <p:cNvPr id="12" name="Text 10"/>
          <p:cNvSpPr/>
          <p:nvPr/>
        </p:nvSpPr>
        <p:spPr>
          <a:xfrm>
            <a:off x="768096" y="5212080"/>
            <a:ext cx="10692079" cy="649224"/>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I stopped trusting write responses and switched to read-back verification — every change is confirmed by fetching the object back, which is why the copy status is stated as “2 of 7 verified” rather than assumed complete. Two strings were then applied and confirmed through the canvas using trusted input events.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15766D"/>
          </a:solidFill>
          <a:ln/>
        </p:spPr>
      </p:sp>
      <p:sp>
        <p:nvSpPr>
          <p:cNvPr id="3" name="Text 1"/>
          <p:cNvSpPr/>
          <p:nvPr/>
        </p:nvSpPr>
        <p:spPr>
          <a:xfrm>
            <a:off x="566928" y="384048"/>
            <a:ext cx="11057839" cy="219456"/>
          </a:xfrm>
          <a:prstGeom prst="rect">
            <a:avLst/>
          </a:prstGeom>
          <a:noFill/>
          <a:ln/>
        </p:spPr>
        <p:txBody>
          <a:bodyPr wrap="square" rtlCol="0" anchor="ctr"/>
          <a:lstStyle/>
          <a:p>
            <a:pPr indent="0" marL="0">
              <a:buNone/>
            </a:pPr>
            <a:r>
              <a:rPr lang="en-US" sz="1050" b="1" spc="160" kern="0" dirty="0">
                <a:solidFill>
                  <a:srgbClr val="15766D"/>
                </a:solidFill>
                <a:latin typeface="Segoe UI" pitchFamily="34" charset="0"/>
                <a:ea typeface="Segoe UI" pitchFamily="34" charset="-122"/>
                <a:cs typeface="Segoe UI" pitchFamily="34" charset="-120"/>
              </a:rPr>
              <a:t>SUMMARY</a:t>
            </a:r>
            <a:endParaRPr lang="en-US" sz="1050" dirty="0"/>
          </a:p>
        </p:txBody>
      </p:sp>
      <p:sp>
        <p:nvSpPr>
          <p:cNvPr id="4" name="Text 2"/>
          <p:cNvSpPr/>
          <p:nvPr/>
        </p:nvSpPr>
        <p:spPr>
          <a:xfrm>
            <a:off x="566928" y="621792"/>
            <a:ext cx="11057839" cy="566928"/>
          </a:xfrm>
          <a:prstGeom prst="rect">
            <a:avLst/>
          </a:prstGeom>
          <a:noFill/>
          <a:ln/>
        </p:spPr>
        <p:txBody>
          <a:bodyPr wrap="square" rtlCol="0" anchor="ctr"/>
          <a:lstStyle/>
          <a:p>
            <a:pPr indent="0" marL="0">
              <a:buNone/>
            </a:pPr>
            <a:r>
              <a:rPr lang="en-US" sz="2700" b="1" dirty="0">
                <a:solidFill>
                  <a:srgbClr val="12312C"/>
                </a:solidFill>
                <a:latin typeface="Segoe UI" pitchFamily="34" charset="0"/>
                <a:ea typeface="Segoe UI" pitchFamily="34" charset="-122"/>
                <a:cs typeface="Segoe UI" pitchFamily="34" charset="-120"/>
              </a:rPr>
              <a:t>Honest status</a:t>
            </a:r>
            <a:endParaRPr lang="en-US" sz="2700" dirty="0"/>
          </a:p>
        </p:txBody>
      </p:sp>
      <p:sp>
        <p:nvSpPr>
          <p:cNvPr id="5" name="Shape 3"/>
          <p:cNvSpPr/>
          <p:nvPr/>
        </p:nvSpPr>
        <p:spPr>
          <a:xfrm>
            <a:off x="566928" y="1243584"/>
            <a:ext cx="1371600" cy="0"/>
          </a:xfrm>
          <a:prstGeom prst="line">
            <a:avLst/>
          </a:prstGeom>
          <a:noFill/>
          <a:ln w="31750">
            <a:solidFill>
              <a:srgbClr val="15766D"/>
            </a:solidFill>
            <a:prstDash val="solid"/>
          </a:ln>
        </p:spPr>
      </p:sp>
      <p:sp>
        <p:nvSpPr>
          <p:cNvPr id="6" name="Text 4"/>
          <p:cNvSpPr/>
          <p:nvPr/>
        </p:nvSpPr>
        <p:spPr>
          <a:xfrm>
            <a:off x="566928" y="6473952"/>
            <a:ext cx="6400800" cy="219456"/>
          </a:xfrm>
          <a:prstGeom prst="rect">
            <a:avLst/>
          </a:prstGeom>
          <a:noFill/>
          <a:ln/>
        </p:spPr>
        <p:txBody>
          <a:bodyPr wrap="square" rtlCol="0" anchor="ctr"/>
          <a:lstStyle/>
          <a:p>
            <a:pPr indent="0" marL="0">
              <a:buNone/>
            </a:pPr>
            <a:r>
              <a:rPr lang="en-US" sz="850" dirty="0">
                <a:solidFill>
                  <a:srgbClr val="7B8794"/>
                </a:solidFill>
                <a:latin typeface="Segoe UI" pitchFamily="34" charset="0"/>
                <a:ea typeface="Segoe UI" pitchFamily="34" charset="-122"/>
                <a:cs typeface="Segoe UI" pitchFamily="34" charset="-120"/>
              </a:rPr>
              <a:t>Pronix Inc. · Kore.ai XO Virtual Assistant</a:t>
            </a:r>
            <a:endParaRPr lang="en-US" sz="850" dirty="0"/>
          </a:p>
        </p:txBody>
      </p:sp>
      <p:sp>
        <p:nvSpPr>
          <p:cNvPr id="7" name="Text 5"/>
          <p:cNvSpPr/>
          <p:nvPr/>
        </p:nvSpPr>
        <p:spPr>
          <a:xfrm>
            <a:off x="11185855" y="6473952"/>
            <a:ext cx="438912" cy="219456"/>
          </a:xfrm>
          <a:prstGeom prst="rect">
            <a:avLst/>
          </a:prstGeom>
          <a:noFill/>
          <a:ln/>
        </p:spPr>
        <p:txBody>
          <a:bodyPr wrap="square" rtlCol="0" anchor="ctr"/>
          <a:lstStyle/>
          <a:p>
            <a:pPr algn="r" indent="0" marL="0">
              <a:buNone/>
            </a:pPr>
            <a:r>
              <a:rPr lang="en-US" sz="850" dirty="0">
                <a:solidFill>
                  <a:srgbClr val="7B8794"/>
                </a:solidFill>
                <a:latin typeface="Segoe UI" pitchFamily="34" charset="0"/>
                <a:ea typeface="Segoe UI" pitchFamily="34" charset="-122"/>
                <a:cs typeface="Segoe UI" pitchFamily="34" charset="-120"/>
              </a:rPr>
              <a:t>14</a:t>
            </a:r>
            <a:endParaRPr lang="en-US" sz="850" dirty="0"/>
          </a:p>
        </p:txBody>
      </p:sp>
      <p:sp>
        <p:nvSpPr>
          <p:cNvPr id="8" name="Shape 6"/>
          <p:cNvSpPr/>
          <p:nvPr/>
        </p:nvSpPr>
        <p:spPr>
          <a:xfrm>
            <a:off x="566928" y="1600200"/>
            <a:ext cx="5394960" cy="2788920"/>
          </a:xfrm>
          <a:prstGeom prst="roundRect">
            <a:avLst>
              <a:gd name="adj" fmla="val 1967"/>
            </a:avLst>
          </a:prstGeom>
          <a:solidFill>
            <a:srgbClr val="EFF6F5"/>
          </a:solidFill>
          <a:ln w="12700">
            <a:solidFill>
              <a:srgbClr val="D8E0DE"/>
            </a:solidFill>
            <a:prstDash val="solid"/>
          </a:ln>
        </p:spPr>
      </p:sp>
      <p:sp>
        <p:nvSpPr>
          <p:cNvPr id="9" name="Shape 7"/>
          <p:cNvSpPr/>
          <p:nvPr/>
        </p:nvSpPr>
        <p:spPr>
          <a:xfrm>
            <a:off x="566928" y="1600200"/>
            <a:ext cx="50292" cy="2788920"/>
          </a:xfrm>
          <a:prstGeom prst="rect">
            <a:avLst/>
          </a:prstGeom>
          <a:solidFill>
            <a:srgbClr val="1E7A46"/>
          </a:solidFill>
          <a:ln/>
        </p:spPr>
      </p:sp>
      <p:sp>
        <p:nvSpPr>
          <p:cNvPr id="10" name="Text 8"/>
          <p:cNvSpPr/>
          <p:nvPr/>
        </p:nvSpPr>
        <p:spPr>
          <a:xfrm>
            <a:off x="768096" y="1746504"/>
            <a:ext cx="5029200" cy="274320"/>
          </a:xfrm>
          <a:prstGeom prst="rect">
            <a:avLst/>
          </a:prstGeom>
          <a:noFill/>
          <a:ln/>
        </p:spPr>
        <p:txBody>
          <a:bodyPr wrap="square" rtlCol="0" anchor="ctr"/>
          <a:lstStyle/>
          <a:p>
            <a:pPr indent="0" marL="0">
              <a:buNone/>
            </a:pPr>
            <a:r>
              <a:rPr lang="en-US" sz="1250" b="1" dirty="0">
                <a:solidFill>
                  <a:srgbClr val="12312C"/>
                </a:solidFill>
                <a:latin typeface="Segoe UI" pitchFamily="34" charset="0"/>
                <a:ea typeface="Segoe UI" pitchFamily="34" charset="-122"/>
                <a:cs typeface="Segoe UI" pitchFamily="34" charset="-120"/>
              </a:rPr>
              <a:t>Delivered and working</a:t>
            </a:r>
            <a:endParaRPr lang="en-US" sz="1250" dirty="0"/>
          </a:p>
        </p:txBody>
      </p:sp>
      <p:sp>
        <p:nvSpPr>
          <p:cNvPr id="11" name="Text 9"/>
          <p:cNvSpPr/>
          <p:nvPr/>
        </p:nvSpPr>
        <p:spPr>
          <a:xfrm>
            <a:off x="768096" y="2057400"/>
            <a:ext cx="5029200" cy="2203704"/>
          </a:xfrm>
          <a:prstGeom prst="rect">
            <a:avLst/>
          </a:prstGeom>
          <a:noFill/>
          <a:ln/>
        </p:spPr>
        <p:txBody>
          <a:bodyPr wrap="square" rtlCol="0" anchor="t"/>
          <a:lstStyle/>
          <a:p>
            <a:pPr indent="0" marL="0">
              <a:buNone/>
            </a:pPr>
            <a:r>
              <a:rPr lang="en-US" sz="1200" dirty="0">
                <a:solidFill>
                  <a:srgbClr val="3E4C59"/>
                </a:solidFill>
                <a:latin typeface="Segoe UI" pitchFamily="34" charset="0"/>
                <a:ea typeface="Segoe UI" pitchFamily="34" charset="-122"/>
                <a:cs typeface="Segoe UI" pitchFamily="34" charset="-120"/>
              </a:rPr>
              <a:t>• Deployed, publicly reachable chatbot</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260-document crawled knowledge base</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Hybrid retrieval with citations</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8 intents with routing and confidence</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Login, registration and account CRUD, live-tested</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101 passing tests, clean lint and build</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Telegram channel enabled</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Full written documentation</a:t>
            </a:r>
            <a:endParaRPr lang="en-US" sz="1200" dirty="0"/>
          </a:p>
        </p:txBody>
      </p:sp>
      <p:sp>
        <p:nvSpPr>
          <p:cNvPr id="12" name="Shape 10"/>
          <p:cNvSpPr/>
          <p:nvPr/>
        </p:nvSpPr>
        <p:spPr>
          <a:xfrm>
            <a:off x="6236208" y="1600200"/>
            <a:ext cx="5394960" cy="2788920"/>
          </a:xfrm>
          <a:prstGeom prst="roundRect">
            <a:avLst>
              <a:gd name="adj" fmla="val 1967"/>
            </a:avLst>
          </a:prstGeom>
          <a:solidFill>
            <a:srgbClr val="EFF6F5"/>
          </a:solidFill>
          <a:ln w="12700">
            <a:solidFill>
              <a:srgbClr val="D8E0DE"/>
            </a:solidFill>
            <a:prstDash val="solid"/>
          </a:ln>
        </p:spPr>
      </p:sp>
      <p:sp>
        <p:nvSpPr>
          <p:cNvPr id="13" name="Shape 11"/>
          <p:cNvSpPr/>
          <p:nvPr/>
        </p:nvSpPr>
        <p:spPr>
          <a:xfrm>
            <a:off x="6236208" y="1600200"/>
            <a:ext cx="50292" cy="2788920"/>
          </a:xfrm>
          <a:prstGeom prst="rect">
            <a:avLst/>
          </a:prstGeom>
          <a:solidFill>
            <a:srgbClr val="B7791F"/>
          </a:solidFill>
          <a:ln/>
        </p:spPr>
      </p:sp>
      <p:sp>
        <p:nvSpPr>
          <p:cNvPr id="14" name="Text 12"/>
          <p:cNvSpPr/>
          <p:nvPr/>
        </p:nvSpPr>
        <p:spPr>
          <a:xfrm>
            <a:off x="6437376" y="1746504"/>
            <a:ext cx="5029200" cy="274320"/>
          </a:xfrm>
          <a:prstGeom prst="rect">
            <a:avLst/>
          </a:prstGeom>
          <a:noFill/>
          <a:ln/>
        </p:spPr>
        <p:txBody>
          <a:bodyPr wrap="square" rtlCol="0" anchor="ctr"/>
          <a:lstStyle/>
          <a:p>
            <a:pPr indent="0" marL="0">
              <a:buNone/>
            </a:pPr>
            <a:r>
              <a:rPr lang="en-US" sz="1250" b="1" dirty="0">
                <a:solidFill>
                  <a:srgbClr val="12312C"/>
                </a:solidFill>
                <a:latin typeface="Segoe UI" pitchFamily="34" charset="0"/>
                <a:ea typeface="Segoe UI" pitchFamily="34" charset="-122"/>
                <a:cs typeface="Segoe UI" pitchFamily="34" charset="-120"/>
              </a:rPr>
              <a:t>Outstanding</a:t>
            </a:r>
            <a:endParaRPr lang="en-US" sz="1250" dirty="0"/>
          </a:p>
        </p:txBody>
      </p:sp>
      <p:sp>
        <p:nvSpPr>
          <p:cNvPr id="15" name="Text 13"/>
          <p:cNvSpPr/>
          <p:nvPr/>
        </p:nvSpPr>
        <p:spPr>
          <a:xfrm>
            <a:off x="6437376" y="2057400"/>
            <a:ext cx="5029200" cy="2203704"/>
          </a:xfrm>
          <a:prstGeom prst="rect">
            <a:avLst/>
          </a:prstGeom>
          <a:noFill/>
          <a:ln/>
        </p:spPr>
        <p:txBody>
          <a:bodyPr wrap="square" rtlCol="0" anchor="t"/>
          <a:lstStyle/>
          <a:p>
            <a:pPr indent="0" marL="0">
              <a:buNone/>
            </a:pPr>
            <a:r>
              <a:rPr lang="en-US" sz="1200" dirty="0">
                <a:solidFill>
                  <a:srgbClr val="3E4C59"/>
                </a:solidFill>
                <a:latin typeface="Segoe UI" pitchFamily="34" charset="0"/>
                <a:ea typeface="Segoe UI" pitchFamily="34" charset="-122"/>
                <a:cs typeface="Segoe UI" pitchFamily="34" charset="-120"/>
              </a:rPr>
              <a:t>• 5 of 7 required strings not yet applied in Kore XO</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Search AI collection not yet created in the builder</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6 content intents not yet trained in Kore</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Welcome Chat Flow sits in draft, so Telegram serves the older greeting</a:t>
            </a:r>
            <a:endParaRPr lang="en-US" sz="1200" dirty="0"/>
          </a:p>
          <a:p>
            <a:pPr indent="0" marL="0">
              <a:buNone/>
            </a:pPr>
            <a:r>
              <a:rPr lang="en-US" sz="1200" dirty="0">
                <a:solidFill>
                  <a:srgbClr val="3E4C59"/>
                </a:solidFill>
                <a:latin typeface="Segoe UI" pitchFamily="34" charset="0"/>
                <a:ea typeface="Segoe UI" pitchFamily="34" charset="-122"/>
                <a:cs typeface="Segoe UI" pitchFamily="34" charset="-120"/>
              </a:rPr>
              <a:t>• WhatsApp blocked on Meta Business verification</a:t>
            </a:r>
            <a:endParaRPr lang="en-US" sz="1200" dirty="0"/>
          </a:p>
        </p:txBody>
      </p:sp>
      <p:sp>
        <p:nvSpPr>
          <p:cNvPr id="16" name="Shape 14"/>
          <p:cNvSpPr/>
          <p:nvPr/>
        </p:nvSpPr>
        <p:spPr>
          <a:xfrm>
            <a:off x="566928" y="4572000"/>
            <a:ext cx="11057839" cy="1417320"/>
          </a:xfrm>
          <a:prstGeom prst="roundRect">
            <a:avLst>
              <a:gd name="adj" fmla="val 3871"/>
            </a:avLst>
          </a:prstGeom>
          <a:solidFill>
            <a:srgbClr val="EFF6F5"/>
          </a:solidFill>
          <a:ln w="12700">
            <a:solidFill>
              <a:srgbClr val="D8E0DE"/>
            </a:solidFill>
            <a:prstDash val="solid"/>
          </a:ln>
        </p:spPr>
      </p:sp>
      <p:sp>
        <p:nvSpPr>
          <p:cNvPr id="17" name="Shape 15"/>
          <p:cNvSpPr/>
          <p:nvPr/>
        </p:nvSpPr>
        <p:spPr>
          <a:xfrm>
            <a:off x="566928" y="4572000"/>
            <a:ext cx="50292" cy="1417320"/>
          </a:xfrm>
          <a:prstGeom prst="rect">
            <a:avLst/>
          </a:prstGeom>
          <a:solidFill>
            <a:srgbClr val="15766D"/>
          </a:solidFill>
          <a:ln/>
        </p:spPr>
      </p:sp>
      <p:sp>
        <p:nvSpPr>
          <p:cNvPr id="18" name="Text 16"/>
          <p:cNvSpPr/>
          <p:nvPr/>
        </p:nvSpPr>
        <p:spPr>
          <a:xfrm>
            <a:off x="768096" y="4718304"/>
            <a:ext cx="10692079" cy="274320"/>
          </a:xfrm>
          <a:prstGeom prst="rect">
            <a:avLst/>
          </a:prstGeom>
          <a:noFill/>
          <a:ln/>
        </p:spPr>
        <p:txBody>
          <a:bodyPr wrap="square" rtlCol="0" anchor="ctr"/>
          <a:lstStyle/>
          <a:p>
            <a:pPr indent="0" marL="0">
              <a:buNone/>
            </a:pPr>
            <a:r>
              <a:rPr lang="en-US" sz="1200" b="1" dirty="0">
                <a:solidFill>
                  <a:srgbClr val="12312C"/>
                </a:solidFill>
                <a:latin typeface="Segoe UI" pitchFamily="34" charset="0"/>
                <a:ea typeface="Segoe UI" pitchFamily="34" charset="-122"/>
                <a:cs typeface="Segoe UI" pitchFamily="34" charset="-120"/>
              </a:rPr>
              <a:t>Next, in priority order</a:t>
            </a:r>
            <a:endParaRPr lang="en-US" sz="1200" dirty="0"/>
          </a:p>
        </p:txBody>
      </p:sp>
      <p:sp>
        <p:nvSpPr>
          <p:cNvPr id="19" name="Text 17"/>
          <p:cNvSpPr/>
          <p:nvPr/>
        </p:nvSpPr>
        <p:spPr>
          <a:xfrm>
            <a:off x="768096" y="5029200"/>
            <a:ext cx="10692079" cy="832104"/>
          </a:xfrm>
          <a:prstGeom prst="rect">
            <a:avLst/>
          </a:prstGeom>
          <a:noFill/>
          <a:ln/>
        </p:spPr>
        <p:txBody>
          <a:bodyPr wrap="square" rtlCol="0" anchor="t"/>
          <a:lstStyle/>
          <a:p>
            <a:pPr indent="0" marL="0">
              <a:buNone/>
            </a:pPr>
            <a:r>
              <a:rPr lang="en-US" sz="1150" dirty="0">
                <a:solidFill>
                  <a:srgbClr val="3E4C59"/>
                </a:solidFill>
                <a:latin typeface="Segoe UI" pitchFamily="34" charset="0"/>
                <a:ea typeface="Segoe UI" pitchFamily="34" charset="-122"/>
                <a:cs typeface="Segoe UI" pitchFamily="34" charset="-120"/>
              </a:rPr>
              <a:t>Republish Welcome Chat Flow and confirm the greeting on every channel. Apply the remaining five strings via the canvas with read-back verification. Create and train the Search AI collection, then retest end to end. Resolve the WhatsApp verification.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12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5766D"/>
          </a:solidFill>
          <a:ln/>
        </p:spPr>
      </p:sp>
      <p:sp>
        <p:nvSpPr>
          <p:cNvPr id="3" name="Text 1"/>
          <p:cNvSpPr/>
          <p:nvPr/>
        </p:nvSpPr>
        <p:spPr>
          <a:xfrm>
            <a:off x="822960" y="1371600"/>
            <a:ext cx="8229600" cy="82296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Thank you</a:t>
            </a:r>
            <a:endParaRPr lang="en-US" sz="4000" dirty="0"/>
          </a:p>
        </p:txBody>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dirty="0">
                <a:solidFill>
                  <a:srgbClr val="9FB5B1"/>
                </a:solidFill>
                <a:latin typeface="Segoe UI" pitchFamily="34" charset="0"/>
                <a:ea typeface="Segoe UI" pitchFamily="34" charset="-122"/>
                <a:cs typeface="Segoe UI" pitchFamily="34" charset="-120"/>
              </a:rPr>
              <a:t>Questions welcome.</a:t>
            </a:r>
            <a:endParaRPr lang="en-US" sz="1500" dirty="0"/>
          </a:p>
        </p:txBody>
      </p:sp>
      <p:sp>
        <p:nvSpPr>
          <p:cNvPr id="5" name="Shape 3"/>
          <p:cNvSpPr/>
          <p:nvPr/>
        </p:nvSpPr>
        <p:spPr>
          <a:xfrm>
            <a:off x="822960" y="2834640"/>
            <a:ext cx="1463040" cy="0"/>
          </a:xfrm>
          <a:prstGeom prst="line">
            <a:avLst/>
          </a:prstGeom>
          <a:noFill/>
          <a:ln w="31750">
            <a:solidFill>
              <a:srgbClr val="15766D"/>
            </a:solidFill>
            <a:prstDash val="solid"/>
          </a:ln>
        </p:spPr>
      </p:sp>
      <p:sp>
        <p:nvSpPr>
          <p:cNvPr id="6" name="Text 4"/>
          <p:cNvSpPr/>
          <p:nvPr/>
        </p:nvSpPr>
        <p:spPr>
          <a:xfrm>
            <a:off x="822960" y="3108960"/>
            <a:ext cx="2194560" cy="292608"/>
          </a:xfrm>
          <a:prstGeom prst="rect">
            <a:avLst/>
          </a:prstGeom>
          <a:noFill/>
          <a:ln/>
        </p:spPr>
        <p:txBody>
          <a:bodyPr wrap="square" rtlCol="0" anchor="ctr"/>
          <a:lstStyle/>
          <a:p>
            <a:pPr indent="0" marL="0">
              <a:buNone/>
            </a:pPr>
            <a:r>
              <a:rPr lang="en-US" sz="1200" b="1" dirty="0">
                <a:solidFill>
                  <a:srgbClr val="7FC4BC"/>
                </a:solidFill>
                <a:latin typeface="Segoe UI" pitchFamily="34" charset="0"/>
                <a:ea typeface="Segoe UI" pitchFamily="34" charset="-122"/>
                <a:cs typeface="Segoe UI" pitchFamily="34" charset="-120"/>
              </a:rPr>
              <a:t>Live app</a:t>
            </a:r>
            <a:endParaRPr lang="en-US" sz="1200" dirty="0"/>
          </a:p>
        </p:txBody>
      </p:sp>
      <p:sp>
        <p:nvSpPr>
          <p:cNvPr id="7" name="Text 5"/>
          <p:cNvSpPr/>
          <p:nvPr/>
        </p:nvSpPr>
        <p:spPr>
          <a:xfrm>
            <a:off x="3108960" y="3108960"/>
            <a:ext cx="7863840" cy="292608"/>
          </a:xfrm>
          <a:prstGeom prst="rect">
            <a:avLst/>
          </a:prstGeom>
          <a:noFill/>
          <a:ln/>
        </p:spPr>
        <p:txBody>
          <a:bodyPr wrap="square"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https://aicharbot.vercel.app</a:t>
            </a:r>
            <a:endParaRPr lang="en-US" sz="1200" dirty="0"/>
          </a:p>
        </p:txBody>
      </p:sp>
      <p:sp>
        <p:nvSpPr>
          <p:cNvPr id="8" name="Text 6"/>
          <p:cNvSpPr/>
          <p:nvPr/>
        </p:nvSpPr>
        <p:spPr>
          <a:xfrm>
            <a:off x="822960" y="3675888"/>
            <a:ext cx="2194560" cy="292608"/>
          </a:xfrm>
          <a:prstGeom prst="rect">
            <a:avLst/>
          </a:prstGeom>
          <a:noFill/>
          <a:ln/>
        </p:spPr>
        <p:txBody>
          <a:bodyPr wrap="square" rtlCol="0" anchor="ctr"/>
          <a:lstStyle/>
          <a:p>
            <a:pPr indent="0" marL="0">
              <a:buNone/>
            </a:pPr>
            <a:r>
              <a:rPr lang="en-US" sz="1200" b="1" dirty="0">
                <a:solidFill>
                  <a:srgbClr val="7FC4BC"/>
                </a:solidFill>
                <a:latin typeface="Segoe UI" pitchFamily="34" charset="0"/>
                <a:ea typeface="Segoe UI" pitchFamily="34" charset="-122"/>
                <a:cs typeface="Segoe UI" pitchFamily="34" charset="-120"/>
              </a:rPr>
              <a:t>Telegram bot</a:t>
            </a:r>
            <a:endParaRPr lang="en-US" sz="1200" dirty="0"/>
          </a:p>
        </p:txBody>
      </p:sp>
      <p:sp>
        <p:nvSpPr>
          <p:cNvPr id="9" name="Text 7"/>
          <p:cNvSpPr/>
          <p:nvPr/>
        </p:nvSpPr>
        <p:spPr>
          <a:xfrm>
            <a:off x="3108960" y="3675888"/>
            <a:ext cx="7863840" cy="292608"/>
          </a:xfrm>
          <a:prstGeom prst="rect">
            <a:avLst/>
          </a:prstGeom>
          <a:noFill/>
          <a:ln/>
        </p:spPr>
        <p:txBody>
          <a:bodyPr wrap="square"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https://t.me/PronixAIChatbotSandeepBot</a:t>
            </a:r>
            <a:endParaRPr lang="en-US" sz="1200" dirty="0"/>
          </a:p>
        </p:txBody>
      </p:sp>
      <p:sp>
        <p:nvSpPr>
          <p:cNvPr id="10" name="Text 8"/>
          <p:cNvSpPr/>
          <p:nvPr/>
        </p:nvSpPr>
        <p:spPr>
          <a:xfrm>
            <a:off x="822960" y="4242816"/>
            <a:ext cx="2194560" cy="292608"/>
          </a:xfrm>
          <a:prstGeom prst="rect">
            <a:avLst/>
          </a:prstGeom>
          <a:noFill/>
          <a:ln/>
        </p:spPr>
        <p:txBody>
          <a:bodyPr wrap="square" rtlCol="0" anchor="ctr"/>
          <a:lstStyle/>
          <a:p>
            <a:pPr indent="0" marL="0">
              <a:buNone/>
            </a:pPr>
            <a:r>
              <a:rPr lang="en-US" sz="1200" b="1" dirty="0">
                <a:solidFill>
                  <a:srgbClr val="7FC4BC"/>
                </a:solidFill>
                <a:latin typeface="Segoe UI" pitchFamily="34" charset="0"/>
                <a:ea typeface="Segoe UI" pitchFamily="34" charset="-122"/>
                <a:cs typeface="Segoe UI" pitchFamily="34" charset="-120"/>
              </a:rPr>
              <a:t>Kore.ai builder</a:t>
            </a:r>
            <a:endParaRPr lang="en-US" sz="1200" dirty="0"/>
          </a:p>
        </p:txBody>
      </p:sp>
      <p:sp>
        <p:nvSpPr>
          <p:cNvPr id="11" name="Text 9"/>
          <p:cNvSpPr/>
          <p:nvPr/>
        </p:nvSpPr>
        <p:spPr>
          <a:xfrm>
            <a:off x="3108960" y="4242816"/>
            <a:ext cx="7863840" cy="292608"/>
          </a:xfrm>
          <a:prstGeom prst="rect">
            <a:avLst/>
          </a:prstGeom>
          <a:noFill/>
          <a:ln/>
        </p:spPr>
        <p:txBody>
          <a:bodyPr wrap="square" rtlCol="0" anchor="ctr"/>
          <a:lstStyle/>
          <a:p>
            <a:pPr indent="0" marL="0">
              <a:buNone/>
            </a:pPr>
            <a:r>
              <a:rPr lang="en-US" sz="1200" dirty="0">
                <a:solidFill>
                  <a:srgbClr val="FFFFFF"/>
                </a:solidFill>
                <a:latin typeface="Segoe UI" pitchFamily="34" charset="0"/>
                <a:ea typeface="Segoe UI" pitchFamily="34" charset="-122"/>
                <a:cs typeface="Segoe UI" pitchFamily="34" charset="-120"/>
              </a:rPr>
              <a:t>platform.kore.ai/builder/app/automationdialoggpt/automationconversationorchestration</a:t>
            </a:r>
            <a:endParaRPr lang="en-US" sz="1200" dirty="0"/>
          </a:p>
        </p:txBody>
      </p:sp>
      <p:sp>
        <p:nvSpPr>
          <p:cNvPr id="12" name="Text 10"/>
          <p:cNvSpPr/>
          <p:nvPr/>
        </p:nvSpPr>
        <p:spPr>
          <a:xfrm>
            <a:off x="822960" y="5029200"/>
            <a:ext cx="8229600" cy="292608"/>
          </a:xfrm>
          <a:prstGeom prst="rect">
            <a:avLst/>
          </a:prstGeom>
          <a:noFill/>
          <a:ln/>
        </p:spPr>
        <p:txBody>
          <a:bodyPr wrap="square" rtlCol="0" anchor="ctr"/>
          <a:lstStyle/>
          <a:p>
            <a:pPr indent="0" marL="0">
              <a:buNone/>
            </a:pPr>
            <a:r>
              <a:rPr lang="en-US" sz="1150" i="1" dirty="0">
                <a:solidFill>
                  <a:srgbClr val="7B8F8B"/>
                </a:solidFill>
                <a:latin typeface="Segoe UI" pitchFamily="34" charset="0"/>
                <a:ea typeface="Segoe UI" pitchFamily="34" charset="-122"/>
                <a:cs typeface="Segoe UI" pitchFamily="34" charset="-120"/>
              </a:rPr>
              <a:t>Evidence and full status: docs/assignment-status.md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Pronix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Pronix Inc. Kore.ai XO Chatbot — Assignment</dc:title>
  <dc:subject>Kore.ai XO virtual assistant: design, build, verification, deployment</dc:subject>
  <dc:creator>Sandeep Arimilli</dc:creator>
  <cp:lastModifiedBy>Sandeep Arimilli</cp:lastModifiedBy>
  <cp:revision>1</cp:revision>
  <dcterms:created xsi:type="dcterms:W3CDTF">2026-10-01T08:59:25Z</dcterms:created>
  <dcterms:modified xsi:type="dcterms:W3CDTF">2026-10-01T08:59:25Z</dcterms:modified>
</cp:coreProperties>
</file>